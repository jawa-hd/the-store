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nonymous Pro Bold" charset="1" panose="02060809030202000504"/>
      <p:regular r:id="rId22"/>
    </p:embeddedFont>
    <p:embeddedFont>
      <p:font typeface="Cousine" charset="1" panose="02070409020205020404"/>
      <p:regular r:id="rId23"/>
    </p:embeddedFont>
    <p:embeddedFont>
      <p:font typeface="Cousine Bold" charset="1" panose="02070709020205020404"/>
      <p:regular r:id="rId24"/>
    </p:embeddedFont>
    <p:embeddedFont>
      <p:font typeface="Canva Sans" charset="1" panose="020B0503030501040103"/>
      <p:regular r:id="rId25"/>
    </p:embeddedFont>
    <p:embeddedFont>
      <p:font typeface="Anton" charset="1" panose="00000500000000000000"/>
      <p:regular r:id="rId26"/>
    </p:embeddedFont>
    <p:embeddedFont>
      <p:font typeface="Canva Sans Bold" charset="1" panose="020B0803030501040103"/>
      <p:regular r:id="rId27"/>
    </p:embeddedFont>
    <p:embeddedFont>
      <p:font typeface="Anonymous Pro" charset="1" panose="020606090302020005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6.png" Type="http://schemas.openxmlformats.org/officeDocument/2006/relationships/image"/><Relationship Id="rId15"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6.png" Type="http://schemas.openxmlformats.org/officeDocument/2006/relationships/image"/><Relationship Id="rId15"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18.png" Type="http://schemas.openxmlformats.org/officeDocument/2006/relationships/image"/><Relationship Id="rId15" Target="../media/image19.svg" Type="http://schemas.openxmlformats.org/officeDocument/2006/relationships/image"/><Relationship Id="rId16" Target="../media/image20.jpeg" Type="http://schemas.openxmlformats.org/officeDocument/2006/relationships/image"/><Relationship Id="rId17" Target="../media/image9.png" Type="http://schemas.openxmlformats.org/officeDocument/2006/relationships/image"/><Relationship Id="rId18"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14" Target="../media/image18.png" Type="http://schemas.openxmlformats.org/officeDocument/2006/relationships/image"/><Relationship Id="rId15" Target="../media/image19.svg" Type="http://schemas.openxmlformats.org/officeDocument/2006/relationships/image"/><Relationship Id="rId16" Target="../media/image9.png" Type="http://schemas.openxmlformats.org/officeDocument/2006/relationships/image"/><Relationship Id="rId17"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16"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33.png" Type="http://schemas.openxmlformats.org/officeDocument/2006/relationships/image"/><Relationship Id="rId14" Target="../media/image34.png" Type="http://schemas.openxmlformats.org/officeDocument/2006/relationships/image"/><Relationship Id="rId15" Target="../media/image35.png" Type="http://schemas.openxmlformats.org/officeDocument/2006/relationships/image"/><Relationship Id="rId2" Target="../media/image32.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12" Target="../media/image16.png" Type="http://schemas.openxmlformats.org/officeDocument/2006/relationships/image"/><Relationship Id="rId13"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png" Type="http://schemas.openxmlformats.org/officeDocument/2006/relationships/image"/><Relationship Id="rId12" Target="../media/image40.png" Type="http://schemas.openxmlformats.org/officeDocument/2006/relationships/image"/><Relationship Id="rId13" Target="../media/image13.jpeg" Type="http://schemas.openxmlformats.org/officeDocument/2006/relationships/image"/><Relationship Id="rId14" Target="../media/image41.png" Type="http://schemas.openxmlformats.org/officeDocument/2006/relationships/image"/><Relationship Id="rId15" Target="../media/image4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135508" y="9193555"/>
            <a:ext cx="1271608" cy="652980"/>
            <a:chOff x="0" y="0"/>
            <a:chExt cx="334909" cy="171978"/>
          </a:xfrm>
        </p:grpSpPr>
        <p:sp>
          <p:nvSpPr>
            <p:cNvPr name="Freeform 15" id="15"/>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16" id="16"/>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408934"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7123917" y="9193555"/>
            <a:ext cx="755149" cy="652980"/>
            <a:chOff x="0" y="0"/>
            <a:chExt cx="198887" cy="171978"/>
          </a:xfrm>
        </p:grpSpPr>
        <p:sp>
          <p:nvSpPr>
            <p:cNvPr name="Freeform 21" id="21"/>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22" id="22"/>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1688263" y="4162463"/>
            <a:ext cx="14911475" cy="2398096"/>
          </a:xfrm>
          <a:prstGeom prst="rect">
            <a:avLst/>
          </a:prstGeom>
        </p:spPr>
        <p:txBody>
          <a:bodyPr anchor="t" rtlCol="false" tIns="0" lIns="0" bIns="0" rIns="0">
            <a:spAutoFit/>
          </a:bodyPr>
          <a:lstStyle/>
          <a:p>
            <a:pPr algn="ctr">
              <a:lnSpc>
                <a:spcPts val="17913"/>
              </a:lnSpc>
            </a:pPr>
            <a:r>
              <a:rPr lang="en-US" b="true" sz="17913" spc="-609">
                <a:solidFill>
                  <a:srgbClr val="0057CC"/>
                </a:solidFill>
                <a:latin typeface="Anonymous Pro Bold"/>
                <a:ea typeface="Anonymous Pro Bold"/>
                <a:cs typeface="Anonymous Pro Bold"/>
                <a:sym typeface="Anonymous Pro Bold"/>
              </a:rPr>
              <a:t>DRINKSLAUNCH</a:t>
            </a:r>
          </a:p>
        </p:txBody>
      </p:sp>
      <p:sp>
        <p:nvSpPr>
          <p:cNvPr name="Freeform 26" id="26"/>
          <p:cNvSpPr/>
          <p:nvPr/>
        </p:nvSpPr>
        <p:spPr>
          <a:xfrm flipH="false" flipV="false" rot="0">
            <a:off x="15969998" y="5926714"/>
            <a:ext cx="765682" cy="1303792"/>
          </a:xfrm>
          <a:custGeom>
            <a:avLst/>
            <a:gdLst/>
            <a:ahLst/>
            <a:cxnLst/>
            <a:rect r="r" b="b" t="t" l="l"/>
            <a:pathLst>
              <a:path h="1303792" w="765682">
                <a:moveTo>
                  <a:pt x="0" y="0"/>
                </a:moveTo>
                <a:lnTo>
                  <a:pt x="765682" y="0"/>
                </a:lnTo>
                <a:lnTo>
                  <a:pt x="765682" y="1303792"/>
                </a:lnTo>
                <a:lnTo>
                  <a:pt x="0" y="13037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8082106" y="7535217"/>
            <a:ext cx="2123787" cy="586938"/>
          </a:xfrm>
          <a:custGeom>
            <a:avLst/>
            <a:gdLst/>
            <a:ahLst/>
            <a:cxnLst/>
            <a:rect r="r" b="b" t="t" l="l"/>
            <a:pathLst>
              <a:path h="586938" w="2123787">
                <a:moveTo>
                  <a:pt x="0" y="0"/>
                </a:moveTo>
                <a:lnTo>
                  <a:pt x="2123788" y="0"/>
                </a:lnTo>
                <a:lnTo>
                  <a:pt x="2123788" y="586938"/>
                </a:lnTo>
                <a:lnTo>
                  <a:pt x="0" y="58693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6352676" y="3606893"/>
            <a:ext cx="5582648" cy="520590"/>
          </a:xfrm>
          <a:prstGeom prst="rect">
            <a:avLst/>
          </a:prstGeom>
        </p:spPr>
        <p:txBody>
          <a:bodyPr anchor="t" rtlCol="false" tIns="0" lIns="0" bIns="0" rIns="0">
            <a:spAutoFit/>
          </a:bodyPr>
          <a:lstStyle/>
          <a:p>
            <a:pPr algn="ctr">
              <a:lnSpc>
                <a:spcPts val="3818"/>
              </a:lnSpc>
            </a:pPr>
            <a:r>
              <a:rPr lang="en-US" sz="3818">
                <a:solidFill>
                  <a:srgbClr val="000000"/>
                </a:solidFill>
                <a:latin typeface="Cousine"/>
                <a:ea typeface="Cousine"/>
                <a:cs typeface="Cousine"/>
                <a:sym typeface="Cousine"/>
              </a:rPr>
              <a:t>Intro</a:t>
            </a:r>
            <a:r>
              <a:rPr lang="en-US" sz="3818">
                <a:solidFill>
                  <a:srgbClr val="000000"/>
                </a:solidFill>
                <a:latin typeface="Cousine"/>
                <a:ea typeface="Cousine"/>
                <a:cs typeface="Cousine"/>
                <a:sym typeface="Cousine"/>
              </a:rPr>
              <a:t>duction to</a:t>
            </a:r>
          </a:p>
        </p:txBody>
      </p:sp>
      <p:sp>
        <p:nvSpPr>
          <p:cNvPr name="TextBox 29" id="29"/>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0" id="30"/>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b="true">
                <a:solidFill>
                  <a:srgbClr val="000000"/>
                </a:solidFill>
                <a:latin typeface="Cousine Bold"/>
                <a:ea typeface="Cousine Bold"/>
                <a:cs typeface="Cousine Bold"/>
                <a:sym typeface="Cousine Bold"/>
              </a:rPr>
              <a:t>Home</a:t>
            </a:r>
          </a:p>
        </p:txBody>
      </p:sp>
      <p:sp>
        <p:nvSpPr>
          <p:cNvPr name="TextBox 31" id="31"/>
          <p:cNvSpPr txBox="true"/>
          <p:nvPr/>
        </p:nvSpPr>
        <p:spPr>
          <a:xfrm rot="0">
            <a:off x="2544931"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name="TextBox 32" id="32"/>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3" id="33"/>
          <p:cNvSpPr txBox="true"/>
          <p:nvPr/>
        </p:nvSpPr>
        <p:spPr>
          <a:xfrm rot="0">
            <a:off x="5699188" y="990600"/>
            <a:ext cx="1668085"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Python 1</a:t>
            </a:r>
          </a:p>
        </p:txBody>
      </p:sp>
      <p:sp>
        <p:nvSpPr>
          <p:cNvPr name="TextBox 34" id="34"/>
          <p:cNvSpPr txBox="true"/>
          <p:nvPr/>
        </p:nvSpPr>
        <p:spPr>
          <a:xfrm rot="0">
            <a:off x="2407115" y="6936294"/>
            <a:ext cx="5311755" cy="1708584"/>
          </a:xfrm>
          <a:prstGeom prst="rect">
            <a:avLst/>
          </a:prstGeom>
        </p:spPr>
        <p:txBody>
          <a:bodyPr anchor="t" rtlCol="false" tIns="0" lIns="0" bIns="0" rIns="0">
            <a:spAutoFit/>
          </a:bodyPr>
          <a:lstStyle/>
          <a:p>
            <a:pPr algn="ctr">
              <a:lnSpc>
                <a:spcPts val="4526"/>
              </a:lnSpc>
            </a:pPr>
            <a:r>
              <a:rPr lang="en-US" sz="3232" b="true">
                <a:solidFill>
                  <a:srgbClr val="0057CC"/>
                </a:solidFill>
                <a:latin typeface="Anonymous Pro Bold"/>
                <a:ea typeface="Anonymous Pro Bold"/>
                <a:cs typeface="Anonymous Pro Bold"/>
                <a:sym typeface="Anonymous Pro Bold"/>
              </a:rPr>
              <a:t>Student: Jawa Dayoub</a:t>
            </a:r>
          </a:p>
          <a:p>
            <a:pPr algn="ctr">
              <a:lnSpc>
                <a:spcPts val="4526"/>
              </a:lnSpc>
            </a:pPr>
            <a:r>
              <a:rPr lang="en-US" sz="3232" b="true">
                <a:solidFill>
                  <a:srgbClr val="0057CC"/>
                </a:solidFill>
                <a:latin typeface="Anonymous Pro Bold"/>
                <a:ea typeface="Anonymous Pro Bold"/>
                <a:cs typeface="Anonymous Pro Bold"/>
                <a:sym typeface="Anonymous Pro Bold"/>
              </a:rPr>
              <a:t>Tutor: Laila Abbas</a:t>
            </a:r>
          </a:p>
          <a:p>
            <a:pPr algn="ctr">
              <a:lnSpc>
                <a:spcPts val="4526"/>
              </a:lnSpc>
              <a:spcBef>
                <a:spcPct val="0"/>
              </a:spcBef>
            </a:pPr>
            <a:r>
              <a:rPr lang="en-US" b="true" sz="3232">
                <a:solidFill>
                  <a:srgbClr val="0057CC"/>
                </a:solidFill>
                <a:latin typeface="Anonymous Pro Bold"/>
                <a:ea typeface="Anonymous Pro Bold"/>
                <a:cs typeface="Anonymous Pro Bold"/>
                <a:sym typeface="Anonymous Pro Bold"/>
              </a:rPr>
              <a:t>Mentor: Azab Ahmad</a:t>
            </a:r>
          </a:p>
        </p:txBody>
      </p:sp>
      <p:sp>
        <p:nvSpPr>
          <p:cNvPr name="Freeform 35" id="35"/>
          <p:cNvSpPr/>
          <p:nvPr/>
        </p:nvSpPr>
        <p:spPr>
          <a:xfrm flipH="false" flipV="false" rot="0">
            <a:off x="15674718" y="2349238"/>
            <a:ext cx="2168069" cy="2039458"/>
          </a:xfrm>
          <a:custGeom>
            <a:avLst/>
            <a:gdLst/>
            <a:ahLst/>
            <a:cxnLst/>
            <a:rect r="r" b="b" t="t" l="l"/>
            <a:pathLst>
              <a:path h="2039458" w="2168069">
                <a:moveTo>
                  <a:pt x="0" y="0"/>
                </a:moveTo>
                <a:lnTo>
                  <a:pt x="2168069" y="0"/>
                </a:lnTo>
                <a:lnTo>
                  <a:pt x="2168069" y="2039457"/>
                </a:lnTo>
                <a:lnTo>
                  <a:pt x="0" y="2039457"/>
                </a:lnTo>
                <a:lnTo>
                  <a:pt x="0" y="0"/>
                </a:lnTo>
                <a:close/>
              </a:path>
            </a:pathLst>
          </a:custGeom>
          <a:blipFill>
            <a:blip r:embed="rId14"/>
            <a:stretch>
              <a:fillRect l="0" t="0" r="0" b="-6306"/>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2310814" y="4102411"/>
            <a:ext cx="5798369" cy="3088949"/>
          </a:xfrm>
          <a:custGeom>
            <a:avLst/>
            <a:gdLst/>
            <a:ahLst/>
            <a:cxnLst/>
            <a:rect r="r" b="b" t="t" l="l"/>
            <a:pathLst>
              <a:path h="3088949" w="5798369">
                <a:moveTo>
                  <a:pt x="0" y="0"/>
                </a:moveTo>
                <a:lnTo>
                  <a:pt x="5798370" y="0"/>
                </a:lnTo>
                <a:lnTo>
                  <a:pt x="5798370" y="3088950"/>
                </a:lnTo>
                <a:lnTo>
                  <a:pt x="0" y="30889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7336807" y="6800504"/>
            <a:ext cx="640554" cy="1090726"/>
          </a:xfrm>
          <a:custGeom>
            <a:avLst/>
            <a:gdLst/>
            <a:ahLst/>
            <a:cxnLst/>
            <a:rect r="r" b="b" t="t" l="l"/>
            <a:pathLst>
              <a:path h="1090726" w="640554">
                <a:moveTo>
                  <a:pt x="0" y="0"/>
                </a:moveTo>
                <a:lnTo>
                  <a:pt x="640553" y="0"/>
                </a:lnTo>
                <a:lnTo>
                  <a:pt x="640553" y="1090726"/>
                </a:lnTo>
                <a:lnTo>
                  <a:pt x="0" y="10907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2092743" y="3762832"/>
            <a:ext cx="1048895" cy="1018382"/>
          </a:xfrm>
          <a:custGeom>
            <a:avLst/>
            <a:gdLst/>
            <a:ahLst/>
            <a:cxnLst/>
            <a:rect r="r" b="b" t="t" l="l"/>
            <a:pathLst>
              <a:path h="1018382" w="1048895">
                <a:moveTo>
                  <a:pt x="0" y="0"/>
                </a:moveTo>
                <a:lnTo>
                  <a:pt x="1048894" y="0"/>
                </a:lnTo>
                <a:lnTo>
                  <a:pt x="1048894" y="1018382"/>
                </a:lnTo>
                <a:lnTo>
                  <a:pt x="0" y="10183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2442638" y="5257464"/>
            <a:ext cx="5534722" cy="831494"/>
          </a:xfrm>
          <a:prstGeom prst="rect">
            <a:avLst/>
          </a:prstGeom>
        </p:spPr>
        <p:txBody>
          <a:bodyPr anchor="t" rtlCol="false" tIns="0" lIns="0" bIns="0" rIns="0">
            <a:spAutoFit/>
          </a:bodyPr>
          <a:lstStyle/>
          <a:p>
            <a:pPr algn="ctr">
              <a:lnSpc>
                <a:spcPts val="5882"/>
              </a:lnSpc>
            </a:pPr>
            <a:r>
              <a:rPr lang="en-US" b="true" sz="6920" spc="-235">
                <a:solidFill>
                  <a:srgbClr val="000000"/>
                </a:solidFill>
                <a:latin typeface="Anonymous Pro Bold"/>
                <a:ea typeface="Anonymous Pro Bold"/>
                <a:cs typeface="Anonymous Pro Bold"/>
                <a:sym typeface="Anonymous Pro Bold"/>
              </a:rPr>
              <a:t>DRINKSLAUNCH</a:t>
            </a:r>
          </a:p>
        </p:txBody>
      </p:sp>
      <p:sp>
        <p:nvSpPr>
          <p:cNvPr name="TextBox 26" id="26"/>
          <p:cNvSpPr txBox="true"/>
          <p:nvPr/>
        </p:nvSpPr>
        <p:spPr>
          <a:xfrm rot="0">
            <a:off x="8855916" y="2771104"/>
            <a:ext cx="8645576" cy="6179893"/>
          </a:xfrm>
          <a:prstGeom prst="rect">
            <a:avLst/>
          </a:prstGeom>
        </p:spPr>
        <p:txBody>
          <a:bodyPr anchor="t" rtlCol="false" tIns="0" lIns="0" bIns="0" rIns="0">
            <a:spAutoFit/>
          </a:bodyPr>
          <a:lstStyle/>
          <a:p>
            <a:pPr algn="r">
              <a:lnSpc>
                <a:spcPts val="4110"/>
              </a:lnSpc>
            </a:pPr>
            <a:r>
              <a:rPr lang="en-US" sz="3288">
                <a:solidFill>
                  <a:srgbClr val="000000"/>
                </a:solidFill>
                <a:latin typeface="Cousine"/>
                <a:ea typeface="Cousine"/>
                <a:cs typeface="Cousine"/>
                <a:sym typeface="Cousine"/>
              </a:rPr>
              <a:t>Welcome to </a:t>
            </a:r>
            <a:r>
              <a:rPr lang="en-US" sz="3288" b="true">
                <a:solidFill>
                  <a:srgbClr val="000000"/>
                </a:solidFill>
                <a:latin typeface="Cousine Bold"/>
                <a:ea typeface="Cousine Bold"/>
                <a:cs typeface="Cousine Bold"/>
                <a:sym typeface="Cousine Bold"/>
              </a:rPr>
              <a:t>DrinksLaunch </a:t>
            </a:r>
            <a:r>
              <a:rPr lang="en-US" sz="3288">
                <a:solidFill>
                  <a:srgbClr val="000000"/>
                </a:solidFill>
                <a:latin typeface="Cousine"/>
                <a:ea typeface="Cousine"/>
                <a:cs typeface="Cousine"/>
                <a:sym typeface="Cousine"/>
              </a:rPr>
              <a:t>– a smart, interactive store management and ordering system. From real-t</a:t>
            </a:r>
            <a:r>
              <a:rPr lang="en-US" sz="3288">
                <a:solidFill>
                  <a:srgbClr val="000000"/>
                </a:solidFill>
                <a:latin typeface="Cousine"/>
                <a:ea typeface="Cousine"/>
                <a:cs typeface="Cousine"/>
                <a:sym typeface="Cousine"/>
              </a:rPr>
              <a:t>ime stock tracking across multiple stores to instant receipt generation and dynamic pricing, </a:t>
            </a:r>
            <a:r>
              <a:rPr lang="en-US" sz="3288" b="true">
                <a:solidFill>
                  <a:srgbClr val="000000"/>
                </a:solidFill>
                <a:latin typeface="Cousine Bold"/>
                <a:ea typeface="Cousine Bold"/>
                <a:cs typeface="Cousine Bold"/>
                <a:sym typeface="Cousine Bold"/>
              </a:rPr>
              <a:t>DrinksLaunch </a:t>
            </a:r>
            <a:r>
              <a:rPr lang="en-US" sz="3288">
                <a:solidFill>
                  <a:srgbClr val="000000"/>
                </a:solidFill>
                <a:latin typeface="Cousine"/>
                <a:ea typeface="Cousine"/>
                <a:cs typeface="Cousine"/>
                <a:sym typeface="Cousine"/>
              </a:rPr>
              <a:t>brings convenience and control right to your fingertips. Let’s explore how it transforms both employee management and customer experience!</a:t>
            </a:r>
          </a:p>
        </p:txBody>
      </p:sp>
      <p:sp>
        <p:nvSpPr>
          <p:cNvPr name="TextBox 27" id="27"/>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8" id="28"/>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9" id="29"/>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0" id="30"/>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31" id="31"/>
          <p:cNvGrpSpPr/>
          <p:nvPr/>
        </p:nvGrpSpPr>
        <p:grpSpPr>
          <a:xfrm rot="0">
            <a:off x="2889550" y="9193555"/>
            <a:ext cx="1271608" cy="652980"/>
            <a:chOff x="0" y="0"/>
            <a:chExt cx="334909" cy="171978"/>
          </a:xfrm>
        </p:grpSpPr>
        <p:sp>
          <p:nvSpPr>
            <p:cNvPr name="Freeform 32" id="32"/>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33" id="33"/>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6230467" y="3093834"/>
            <a:ext cx="5986823" cy="4099333"/>
            <a:chOff x="0" y="0"/>
            <a:chExt cx="7982430" cy="5465777"/>
          </a:xfrm>
        </p:grpSpPr>
        <p:sp>
          <p:nvSpPr>
            <p:cNvPr name="Freeform 23" id="23"/>
            <p:cNvSpPr/>
            <p:nvPr/>
          </p:nvSpPr>
          <p:spPr>
            <a:xfrm flipH="false" flipV="false" rot="0">
              <a:off x="0" y="364024"/>
              <a:ext cx="7731159" cy="4118599"/>
            </a:xfrm>
            <a:custGeom>
              <a:avLst/>
              <a:gdLst/>
              <a:ahLst/>
              <a:cxnLst/>
              <a:rect r="r" b="b" t="t" l="l"/>
              <a:pathLst>
                <a:path h="4118599" w="7731159">
                  <a:moveTo>
                    <a:pt x="0" y="0"/>
                  </a:moveTo>
                  <a:lnTo>
                    <a:pt x="7731159" y="0"/>
                  </a:lnTo>
                  <a:lnTo>
                    <a:pt x="7731159" y="4118599"/>
                  </a:lnTo>
                  <a:lnTo>
                    <a:pt x="0" y="41185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537607" y="4011476"/>
              <a:ext cx="854071" cy="1454301"/>
            </a:xfrm>
            <a:custGeom>
              <a:avLst/>
              <a:gdLst/>
              <a:ahLst/>
              <a:cxnLst/>
              <a:rect r="r" b="b" t="t" l="l"/>
              <a:pathLst>
                <a:path h="1454301" w="854071">
                  <a:moveTo>
                    <a:pt x="0" y="0"/>
                  </a:moveTo>
                  <a:lnTo>
                    <a:pt x="854072" y="0"/>
                  </a:lnTo>
                  <a:lnTo>
                    <a:pt x="854072" y="1454301"/>
                  </a:lnTo>
                  <a:lnTo>
                    <a:pt x="0" y="14543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6583904" y="0"/>
              <a:ext cx="1398527" cy="1357842"/>
            </a:xfrm>
            <a:custGeom>
              <a:avLst/>
              <a:gdLst/>
              <a:ahLst/>
              <a:cxnLst/>
              <a:rect r="r" b="b" t="t" l="l"/>
              <a:pathLst>
                <a:path h="1357842" w="1398527">
                  <a:moveTo>
                    <a:pt x="0" y="0"/>
                  </a:moveTo>
                  <a:lnTo>
                    <a:pt x="1398526" y="0"/>
                  </a:lnTo>
                  <a:lnTo>
                    <a:pt x="1398526" y="1357842"/>
                  </a:lnTo>
                  <a:lnTo>
                    <a:pt x="0" y="13578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6" id="26"/>
            <p:cNvSpPr txBox="true"/>
            <p:nvPr/>
          </p:nvSpPr>
          <p:spPr>
            <a:xfrm rot="0">
              <a:off x="175765" y="907521"/>
              <a:ext cx="7379630" cy="3412374"/>
            </a:xfrm>
            <a:prstGeom prst="rect">
              <a:avLst/>
            </a:prstGeom>
          </p:spPr>
          <p:txBody>
            <a:bodyPr anchor="t" rtlCol="false" tIns="0" lIns="0" bIns="0" rIns="0">
              <a:spAutoFit/>
            </a:bodyPr>
            <a:lstStyle/>
            <a:p>
              <a:pPr algn="ctr">
                <a:lnSpc>
                  <a:spcPts val="6307"/>
                </a:lnSpc>
              </a:pPr>
              <a:r>
                <a:rPr lang="en-US" b="true" sz="7420" spc="-252">
                  <a:solidFill>
                    <a:srgbClr val="000000"/>
                  </a:solidFill>
                  <a:latin typeface="Anonymous Pro Bold"/>
                  <a:ea typeface="Anonymous Pro Bold"/>
                  <a:cs typeface="Anonymous Pro Bold"/>
                  <a:sym typeface="Anonymous Pro Bold"/>
                </a:rPr>
                <a:t>OBJ</a:t>
              </a:r>
              <a:r>
                <a:rPr lang="en-US" b="true" sz="7420" spc="-252">
                  <a:solidFill>
                    <a:srgbClr val="000000"/>
                  </a:solidFill>
                  <a:latin typeface="Anonymous Pro Bold"/>
                  <a:ea typeface="Anonymous Pro Bold"/>
                  <a:cs typeface="Anonymous Pro Bold"/>
                  <a:sym typeface="Anonymous Pro Bold"/>
                </a:rPr>
                <a:t>ECTIVES</a:t>
              </a:r>
            </a:p>
            <a:p>
              <a:pPr algn="ctr">
                <a:lnSpc>
                  <a:spcPts val="6307"/>
                </a:lnSpc>
              </a:pPr>
              <a:r>
                <a:rPr lang="en-US" b="true" sz="7420" spc="-252">
                  <a:solidFill>
                    <a:srgbClr val="000000"/>
                  </a:solidFill>
                  <a:latin typeface="Anonymous Pro Bold"/>
                  <a:ea typeface="Anonymous Pro Bold"/>
                  <a:cs typeface="Anonymous Pro Bold"/>
                  <a:sym typeface="Anonymous Pro Bold"/>
                </a:rPr>
                <a:t>&amp;</a:t>
              </a:r>
            </a:p>
            <a:p>
              <a:pPr algn="ctr">
                <a:lnSpc>
                  <a:spcPts val="6307"/>
                </a:lnSpc>
              </a:pPr>
              <a:r>
                <a:rPr lang="en-US" b="true" sz="7420" spc="-252">
                  <a:solidFill>
                    <a:srgbClr val="000000"/>
                  </a:solidFill>
                  <a:latin typeface="Anonymous Pro Bold"/>
                  <a:ea typeface="Anonymous Pro Bold"/>
                  <a:cs typeface="Anonymous Pro Bold"/>
                  <a:sym typeface="Anonymous Pro Bold"/>
                </a:rPr>
                <a:t>GOALS</a:t>
              </a:r>
            </a:p>
          </p:txBody>
        </p:sp>
      </p:grpSp>
      <p:sp>
        <p:nvSpPr>
          <p:cNvPr name="TextBox 27" id="27"/>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8" id="28"/>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9" id="29"/>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0" id="30"/>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31" id="31"/>
          <p:cNvGrpSpPr/>
          <p:nvPr/>
        </p:nvGrpSpPr>
        <p:grpSpPr>
          <a:xfrm rot="0">
            <a:off x="4073148" y="9193555"/>
            <a:ext cx="1271608" cy="652980"/>
            <a:chOff x="0" y="0"/>
            <a:chExt cx="334909" cy="171978"/>
          </a:xfrm>
        </p:grpSpPr>
        <p:sp>
          <p:nvSpPr>
            <p:cNvPr name="Freeform 32" id="32"/>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33" id="33"/>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TextBox 34" id="34"/>
          <p:cNvSpPr txBox="true"/>
          <p:nvPr/>
        </p:nvSpPr>
        <p:spPr>
          <a:xfrm rot="0">
            <a:off x="584087" y="2538366"/>
            <a:ext cx="5552105" cy="2846070"/>
          </a:xfrm>
          <a:prstGeom prst="rect">
            <a:avLst/>
          </a:prstGeom>
        </p:spPr>
        <p:txBody>
          <a:bodyPr anchor="t" rtlCol="false" tIns="0" lIns="0" bIns="0" rIns="0">
            <a:spAutoFit/>
          </a:bodyPr>
          <a:lstStyle/>
          <a:p>
            <a:pPr algn="ctr">
              <a:lnSpc>
                <a:spcPts val="3779"/>
              </a:lnSpc>
              <a:spcBef>
                <a:spcPct val="0"/>
              </a:spcBef>
            </a:pPr>
            <a:r>
              <a:rPr lang="en-US" sz="2700">
                <a:solidFill>
                  <a:srgbClr val="000000"/>
                </a:solidFill>
                <a:latin typeface="Canva Sans"/>
                <a:ea typeface="Canva Sans"/>
                <a:cs typeface="Canva Sans"/>
                <a:sym typeface="Canva Sans"/>
              </a:rPr>
              <a:t>Track drink availability across multiple stores in real-time.</a:t>
            </a:r>
          </a:p>
          <a:p>
            <a:pPr algn="ctr">
              <a:lnSpc>
                <a:spcPts val="3779"/>
              </a:lnSpc>
              <a:spcBef>
                <a:spcPct val="0"/>
              </a:spcBef>
            </a:pPr>
            <a:r>
              <a:rPr lang="en-US" sz="2700">
                <a:solidFill>
                  <a:srgbClr val="000000"/>
                </a:solidFill>
                <a:latin typeface="Canva Sans"/>
                <a:ea typeface="Canva Sans"/>
                <a:cs typeface="Canva Sans"/>
                <a:sym typeface="Canva Sans"/>
              </a:rPr>
              <a:t>Simplify customer ordering with instant receipts.</a:t>
            </a:r>
          </a:p>
          <a:p>
            <a:pPr algn="ctr">
              <a:lnSpc>
                <a:spcPts val="3779"/>
              </a:lnSpc>
              <a:spcBef>
                <a:spcPct val="0"/>
              </a:spcBef>
            </a:pPr>
            <a:r>
              <a:rPr lang="en-US" sz="2700">
                <a:solidFill>
                  <a:srgbClr val="000000"/>
                </a:solidFill>
                <a:latin typeface="Canva Sans"/>
                <a:ea typeface="Canva Sans"/>
                <a:cs typeface="Canva Sans"/>
                <a:sym typeface="Canva Sans"/>
              </a:rPr>
              <a:t>Allow employees to easily manage inventory.</a:t>
            </a:r>
          </a:p>
        </p:txBody>
      </p:sp>
      <p:sp>
        <p:nvSpPr>
          <p:cNvPr name="TextBox 35" id="35"/>
          <p:cNvSpPr txBox="true"/>
          <p:nvPr/>
        </p:nvSpPr>
        <p:spPr>
          <a:xfrm rot="0">
            <a:off x="11361908" y="6511810"/>
            <a:ext cx="6312810" cy="2369820"/>
          </a:xfrm>
          <a:prstGeom prst="rect">
            <a:avLst/>
          </a:prstGeom>
        </p:spPr>
        <p:txBody>
          <a:bodyPr anchor="t" rtlCol="false" tIns="0" lIns="0" bIns="0" rIns="0">
            <a:spAutoFit/>
          </a:bodyPr>
          <a:lstStyle/>
          <a:p>
            <a:pPr algn="ctr">
              <a:lnSpc>
                <a:spcPts val="3779"/>
              </a:lnSpc>
              <a:spcBef>
                <a:spcPct val="0"/>
              </a:spcBef>
            </a:pPr>
            <a:r>
              <a:rPr lang="en-US" sz="2700">
                <a:solidFill>
                  <a:srgbClr val="000000"/>
                </a:solidFill>
                <a:latin typeface="Canva Sans"/>
                <a:ea typeface="Canva Sans"/>
                <a:cs typeface="Canva Sans"/>
                <a:sym typeface="Canva Sans"/>
              </a:rPr>
              <a:t>Ensure accurate stock and pricing.</a:t>
            </a:r>
          </a:p>
          <a:p>
            <a:pPr algn="ctr">
              <a:lnSpc>
                <a:spcPts val="3779"/>
              </a:lnSpc>
              <a:spcBef>
                <a:spcPct val="0"/>
              </a:spcBef>
            </a:pPr>
            <a:r>
              <a:rPr lang="en-US" sz="2700">
                <a:solidFill>
                  <a:srgbClr val="000000"/>
                </a:solidFill>
                <a:latin typeface="Canva Sans"/>
                <a:ea typeface="Canva Sans"/>
                <a:cs typeface="Canva Sans"/>
                <a:sym typeface="Canva Sans"/>
              </a:rPr>
              <a:t>Speed up order processing and improve customer experience.</a:t>
            </a:r>
          </a:p>
          <a:p>
            <a:pPr algn="ctr">
              <a:lnSpc>
                <a:spcPts val="3779"/>
              </a:lnSpc>
              <a:spcBef>
                <a:spcPct val="0"/>
              </a:spcBef>
            </a:pPr>
            <a:r>
              <a:rPr lang="en-US" sz="2700">
                <a:solidFill>
                  <a:srgbClr val="000000"/>
                </a:solidFill>
                <a:latin typeface="Canva Sans"/>
                <a:ea typeface="Canva Sans"/>
                <a:cs typeface="Canva Sans"/>
                <a:sym typeface="Canva Sans"/>
              </a:rPr>
              <a:t>Showcase Python skills with a modern, interactive terminal app.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5538489"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5699188" y="2357391"/>
            <a:ext cx="6764709" cy="3621270"/>
            <a:chOff x="0" y="0"/>
            <a:chExt cx="9019612" cy="4828360"/>
          </a:xfrm>
        </p:grpSpPr>
        <p:sp>
          <p:nvSpPr>
            <p:cNvPr name="Freeform 26" id="26"/>
            <p:cNvSpPr/>
            <p:nvPr/>
          </p:nvSpPr>
          <p:spPr>
            <a:xfrm flipH="false" flipV="false" rot="0">
              <a:off x="306536" y="186667"/>
              <a:ext cx="8713076" cy="4641693"/>
            </a:xfrm>
            <a:custGeom>
              <a:avLst/>
              <a:gdLst/>
              <a:ahLst/>
              <a:cxnLst/>
              <a:rect r="r" b="b" t="t" l="l"/>
              <a:pathLst>
                <a:path h="4641693" w="8713076">
                  <a:moveTo>
                    <a:pt x="0" y="0"/>
                  </a:moveTo>
                  <a:lnTo>
                    <a:pt x="8713076" y="0"/>
                  </a:lnTo>
                  <a:lnTo>
                    <a:pt x="8713076" y="4641693"/>
                  </a:lnTo>
                  <a:lnTo>
                    <a:pt x="0" y="46416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0" y="0"/>
              <a:ext cx="1532009" cy="1487441"/>
            </a:xfrm>
            <a:custGeom>
              <a:avLst/>
              <a:gdLst/>
              <a:ahLst/>
              <a:cxnLst/>
              <a:rect r="r" b="b" t="t" l="l"/>
              <a:pathLst>
                <a:path h="1487441" w="1532009">
                  <a:moveTo>
                    <a:pt x="0" y="0"/>
                  </a:moveTo>
                  <a:lnTo>
                    <a:pt x="1532009" y="0"/>
                  </a:lnTo>
                  <a:lnTo>
                    <a:pt x="1532009" y="1487441"/>
                  </a:lnTo>
                  <a:lnTo>
                    <a:pt x="0" y="14874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708524" y="1032295"/>
              <a:ext cx="7909100" cy="1183294"/>
            </a:xfrm>
            <a:prstGeom prst="rect">
              <a:avLst/>
            </a:prstGeom>
          </p:spPr>
          <p:txBody>
            <a:bodyPr anchor="t" rtlCol="false" tIns="0" lIns="0" bIns="0" rIns="0">
              <a:spAutoFit/>
            </a:bodyPr>
            <a:lstStyle/>
            <a:p>
              <a:pPr algn="ctr">
                <a:lnSpc>
                  <a:spcPts val="5870"/>
                </a:lnSpc>
              </a:pPr>
            </a:p>
          </p:txBody>
        </p:sp>
        <p:sp>
          <p:nvSpPr>
            <p:cNvPr name="TextBox 29" id="29"/>
            <p:cNvSpPr txBox="true"/>
            <p:nvPr/>
          </p:nvSpPr>
          <p:spPr>
            <a:xfrm rot="0">
              <a:off x="1481211" y="642095"/>
              <a:ext cx="7107024" cy="3813387"/>
            </a:xfrm>
            <a:prstGeom prst="rect">
              <a:avLst/>
            </a:prstGeom>
          </p:spPr>
          <p:txBody>
            <a:bodyPr anchor="t" rtlCol="false" tIns="0" lIns="0" bIns="0" rIns="0">
              <a:spAutoFit/>
            </a:bodyPr>
            <a:lstStyle/>
            <a:p>
              <a:pPr algn="l">
                <a:lnSpc>
                  <a:spcPts val="2312"/>
                </a:lnSpc>
              </a:pPr>
              <a:r>
                <a:rPr lang="en-US" sz="1850">
                  <a:solidFill>
                    <a:srgbClr val="000000"/>
                  </a:solidFill>
                  <a:latin typeface="Cousine"/>
                  <a:ea typeface="Cousine"/>
                  <a:cs typeface="Cousine"/>
                  <a:sym typeface="Cousine"/>
                </a:rPr>
                <a:t>She often struggled to</a:t>
              </a:r>
            </a:p>
            <a:p>
              <a:pPr algn="l">
                <a:lnSpc>
                  <a:spcPts val="2312"/>
                </a:lnSpc>
              </a:pPr>
              <a:r>
                <a:rPr lang="en-US" sz="1850">
                  <a:solidFill>
                    <a:srgbClr val="000000"/>
                  </a:solidFill>
                  <a:latin typeface="Cousine"/>
                  <a:ea typeface="Cousine"/>
                  <a:cs typeface="Cousine"/>
                  <a:sym typeface="Cousine"/>
                </a:rPr>
                <a:t>know which drinks were available at each store.</a:t>
              </a:r>
            </a:p>
            <a:p>
              <a:pPr algn="l">
                <a:lnSpc>
                  <a:spcPts val="2312"/>
                </a:lnSpc>
              </a:pPr>
              <a:r>
                <a:rPr lang="en-US" sz="1850">
                  <a:solidFill>
                    <a:srgbClr val="000000"/>
                  </a:solidFill>
                  <a:latin typeface="Cousine"/>
                  <a:ea typeface="Cousine"/>
                  <a:cs typeface="Cousine"/>
                  <a:sym typeface="Cousine"/>
                </a:rPr>
                <a:t>Keeping track of </a:t>
              </a:r>
              <a:r>
                <a:rPr lang="en-US" sz="1850">
                  <a:solidFill>
                    <a:srgbClr val="000000"/>
                  </a:solidFill>
                  <a:latin typeface="Cousine"/>
                  <a:ea typeface="Cousine"/>
                  <a:cs typeface="Cousine"/>
                  <a:sym typeface="Cousine"/>
                </a:rPr>
                <a:t>stock, updating prices, and making sure nothing ran out was confusing and stressful.</a:t>
              </a:r>
            </a:p>
            <a:p>
              <a:pPr algn="l">
                <a:lnSpc>
                  <a:spcPts val="2312"/>
                </a:lnSpc>
              </a:pPr>
              <a:r>
                <a:rPr lang="en-US" sz="1850">
                  <a:solidFill>
                    <a:srgbClr val="000000"/>
                  </a:solidFill>
                  <a:latin typeface="Cousine"/>
                  <a:ea typeface="Cousine"/>
                  <a:cs typeface="Cousine"/>
                  <a:sym typeface="Cousine"/>
                </a:rPr>
                <a:t>Sometimes, customers waited too long or received wrong orders, and she wanted a better way to manage everything.</a:t>
              </a:r>
            </a:p>
          </p:txBody>
        </p:sp>
      </p:grpSp>
      <p:sp>
        <p:nvSpPr>
          <p:cNvPr name="TextBox 30" id="30"/>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1" id="31"/>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2" id="32"/>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3" id="33"/>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34" id="34"/>
          <p:cNvGrpSpPr/>
          <p:nvPr/>
        </p:nvGrpSpPr>
        <p:grpSpPr>
          <a:xfrm rot="0">
            <a:off x="644694" y="2557416"/>
            <a:ext cx="4566590" cy="4568967"/>
            <a:chOff x="0" y="0"/>
            <a:chExt cx="6088787" cy="6091956"/>
          </a:xfrm>
        </p:grpSpPr>
        <p:sp>
          <p:nvSpPr>
            <p:cNvPr name="Freeform 35" id="35"/>
            <p:cNvSpPr/>
            <p:nvPr/>
          </p:nvSpPr>
          <p:spPr>
            <a:xfrm flipH="false" flipV="false" rot="0">
              <a:off x="0" y="0"/>
              <a:ext cx="6088787" cy="6091956"/>
            </a:xfrm>
            <a:custGeom>
              <a:avLst/>
              <a:gdLst/>
              <a:ahLst/>
              <a:cxnLst/>
              <a:rect r="r" b="b" t="t" l="l"/>
              <a:pathLst>
                <a:path h="6091956" w="6088787">
                  <a:moveTo>
                    <a:pt x="0" y="0"/>
                  </a:moveTo>
                  <a:lnTo>
                    <a:pt x="6088787" y="0"/>
                  </a:lnTo>
                  <a:lnTo>
                    <a:pt x="6088787" y="6091956"/>
                  </a:lnTo>
                  <a:lnTo>
                    <a:pt x="0" y="6091956"/>
                  </a:lnTo>
                  <a:lnTo>
                    <a:pt x="0" y="0"/>
                  </a:lnTo>
                  <a:close/>
                </a:path>
              </a:pathLst>
            </a:custGeom>
            <a:blipFill>
              <a:blip r:embed="rId14">
                <a:extLst>
                  <a:ext uri="{96DAC541-7B7A-43D3-8B79-37D633B846F1}">
                    <asvg:svgBlip xmlns:asvg="http://schemas.microsoft.com/office/drawing/2016/SVG/main" r:embed="rId15"/>
                  </a:ext>
                </a:extLst>
              </a:blip>
              <a:stretch>
                <a:fillRect l="-26" t="0" r="-26" b="0"/>
              </a:stretch>
            </a:blipFill>
          </p:spPr>
        </p:sp>
        <p:sp>
          <p:nvSpPr>
            <p:cNvPr name="Freeform 36" id="36"/>
            <p:cNvSpPr/>
            <p:nvPr/>
          </p:nvSpPr>
          <p:spPr>
            <a:xfrm flipH="false" flipV="false" rot="0">
              <a:off x="1365906" y="1309597"/>
              <a:ext cx="3012727" cy="4521916"/>
            </a:xfrm>
            <a:custGeom>
              <a:avLst/>
              <a:gdLst/>
              <a:ahLst/>
              <a:cxnLst/>
              <a:rect r="r" b="b" t="t" l="l"/>
              <a:pathLst>
                <a:path h="4521916" w="3012727">
                  <a:moveTo>
                    <a:pt x="0" y="0"/>
                  </a:moveTo>
                  <a:lnTo>
                    <a:pt x="3012726" y="0"/>
                  </a:lnTo>
                  <a:lnTo>
                    <a:pt x="3012726" y="4521916"/>
                  </a:lnTo>
                  <a:lnTo>
                    <a:pt x="0" y="4521916"/>
                  </a:lnTo>
                  <a:lnTo>
                    <a:pt x="0" y="0"/>
                  </a:lnTo>
                  <a:close/>
                </a:path>
              </a:pathLst>
            </a:custGeom>
            <a:blipFill>
              <a:blip r:embed="rId16"/>
              <a:stretch>
                <a:fillRect l="0" t="0" r="0" b="0"/>
              </a:stretch>
            </a:blipFill>
          </p:spPr>
        </p:sp>
        <p:sp>
          <p:nvSpPr>
            <p:cNvPr name="TextBox 37" id="37"/>
            <p:cNvSpPr txBox="true"/>
            <p:nvPr/>
          </p:nvSpPr>
          <p:spPr>
            <a:xfrm rot="0">
              <a:off x="148176" y="325543"/>
              <a:ext cx="5792434" cy="946919"/>
            </a:xfrm>
            <a:prstGeom prst="rect">
              <a:avLst/>
            </a:prstGeom>
          </p:spPr>
          <p:txBody>
            <a:bodyPr anchor="t" rtlCol="false" tIns="0" lIns="0" bIns="0" rIns="0">
              <a:spAutoFit/>
            </a:bodyPr>
            <a:lstStyle/>
            <a:p>
              <a:pPr algn="ctr">
                <a:lnSpc>
                  <a:spcPts val="2986"/>
                </a:lnSpc>
              </a:pPr>
              <a:r>
                <a:rPr lang="en-US" sz="2133">
                  <a:solidFill>
                    <a:srgbClr val="1700D1"/>
                  </a:solidFill>
                  <a:latin typeface="Anton"/>
                  <a:ea typeface="Anton"/>
                  <a:cs typeface="Anton"/>
                  <a:sym typeface="Anton"/>
                </a:rPr>
                <a:t>This is Jawa</a:t>
              </a:r>
            </a:p>
            <a:p>
              <a:pPr algn="ctr">
                <a:lnSpc>
                  <a:spcPts val="2986"/>
                </a:lnSpc>
                <a:spcBef>
                  <a:spcPct val="0"/>
                </a:spcBef>
              </a:pPr>
              <a:r>
                <a:rPr lang="en-US" sz="2133">
                  <a:solidFill>
                    <a:srgbClr val="1700D1"/>
                  </a:solidFill>
                  <a:latin typeface="Anton"/>
                  <a:ea typeface="Anton"/>
                  <a:cs typeface="Anton"/>
                  <a:sym typeface="Anton"/>
                </a:rPr>
                <a:t>She is working in a drinks store </a:t>
              </a:r>
            </a:p>
          </p:txBody>
        </p:sp>
      </p:grpSp>
      <p:sp>
        <p:nvSpPr>
          <p:cNvPr name="Freeform 38" id="38"/>
          <p:cNvSpPr/>
          <p:nvPr/>
        </p:nvSpPr>
        <p:spPr>
          <a:xfrm flipH="false" flipV="false" rot="0">
            <a:off x="4505775" y="6074074"/>
            <a:ext cx="705508" cy="1201329"/>
          </a:xfrm>
          <a:custGeom>
            <a:avLst/>
            <a:gdLst/>
            <a:ahLst/>
            <a:cxnLst/>
            <a:rect r="r" b="b" t="t" l="l"/>
            <a:pathLst>
              <a:path h="1201329" w="705508">
                <a:moveTo>
                  <a:pt x="0" y="0"/>
                </a:moveTo>
                <a:lnTo>
                  <a:pt x="705508" y="0"/>
                </a:lnTo>
                <a:lnTo>
                  <a:pt x="705508" y="1201329"/>
                </a:lnTo>
                <a:lnTo>
                  <a:pt x="0" y="120132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39" id="39"/>
          <p:cNvGrpSpPr/>
          <p:nvPr/>
        </p:nvGrpSpPr>
        <p:grpSpPr>
          <a:xfrm rot="0">
            <a:off x="12648367" y="4433310"/>
            <a:ext cx="5026351" cy="2690696"/>
            <a:chOff x="0" y="0"/>
            <a:chExt cx="6701802" cy="3587595"/>
          </a:xfrm>
        </p:grpSpPr>
        <p:sp>
          <p:nvSpPr>
            <p:cNvPr name="Freeform 40" id="40"/>
            <p:cNvSpPr/>
            <p:nvPr/>
          </p:nvSpPr>
          <p:spPr>
            <a:xfrm flipH="false" flipV="false" rot="0">
              <a:off x="227764" y="138699"/>
              <a:ext cx="6474038" cy="3448896"/>
            </a:xfrm>
            <a:custGeom>
              <a:avLst/>
              <a:gdLst/>
              <a:ahLst/>
              <a:cxnLst/>
              <a:rect r="r" b="b" t="t" l="l"/>
              <a:pathLst>
                <a:path h="3448896" w="6474038">
                  <a:moveTo>
                    <a:pt x="0" y="0"/>
                  </a:moveTo>
                  <a:lnTo>
                    <a:pt x="6474038" y="0"/>
                  </a:lnTo>
                  <a:lnTo>
                    <a:pt x="6474038" y="3448896"/>
                  </a:lnTo>
                  <a:lnTo>
                    <a:pt x="0" y="344889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1" id="41"/>
            <p:cNvSpPr/>
            <p:nvPr/>
          </p:nvSpPr>
          <p:spPr>
            <a:xfrm flipH="false" flipV="false" rot="0">
              <a:off x="0" y="0"/>
              <a:ext cx="1138322" cy="1105207"/>
            </a:xfrm>
            <a:custGeom>
              <a:avLst/>
              <a:gdLst/>
              <a:ahLst/>
              <a:cxnLst/>
              <a:rect r="r" b="b" t="t" l="l"/>
              <a:pathLst>
                <a:path h="1105207" w="1138322">
                  <a:moveTo>
                    <a:pt x="0" y="0"/>
                  </a:moveTo>
                  <a:lnTo>
                    <a:pt x="1138322" y="0"/>
                  </a:lnTo>
                  <a:lnTo>
                    <a:pt x="1138322" y="1105207"/>
                  </a:lnTo>
                  <a:lnTo>
                    <a:pt x="0" y="11052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2" id="42"/>
            <p:cNvSpPr txBox="true"/>
            <p:nvPr/>
          </p:nvSpPr>
          <p:spPr>
            <a:xfrm rot="0">
              <a:off x="1147696" y="430353"/>
              <a:ext cx="5175917" cy="2950549"/>
            </a:xfrm>
            <a:prstGeom prst="rect">
              <a:avLst/>
            </a:prstGeom>
          </p:spPr>
          <p:txBody>
            <a:bodyPr anchor="t" rtlCol="false" tIns="0" lIns="0" bIns="0" rIns="0">
              <a:spAutoFit/>
            </a:bodyPr>
            <a:lstStyle/>
            <a:p>
              <a:pPr algn="l">
                <a:lnSpc>
                  <a:spcPts val="2200"/>
                </a:lnSpc>
              </a:pPr>
              <a:r>
                <a:rPr lang="en-US" sz="1760">
                  <a:solidFill>
                    <a:srgbClr val="000000"/>
                  </a:solidFill>
                  <a:latin typeface="Cousine"/>
                  <a:ea typeface="Cousine"/>
                  <a:cs typeface="Cousine"/>
                  <a:sym typeface="Cousine"/>
                </a:rPr>
                <a:t>So she created DrinksLaunch: a smart, interactive system that lets her track inven</a:t>
              </a:r>
              <a:r>
                <a:rPr lang="en-US" sz="1760">
                  <a:solidFill>
                    <a:srgbClr val="000000"/>
                  </a:solidFill>
                  <a:latin typeface="Cousine"/>
                  <a:ea typeface="Cousine"/>
                  <a:cs typeface="Cousine"/>
                  <a:sym typeface="Cousine"/>
                </a:rPr>
                <a:t>tory in real-time, manage stock easily, and provide customers with fast, accurate orders and instant receipts.</a:t>
              </a:r>
            </a:p>
          </p:txBody>
        </p:sp>
      </p:grpSp>
      <p:sp>
        <p:nvSpPr>
          <p:cNvPr name="TextBox 43" id="43"/>
          <p:cNvSpPr txBox="true"/>
          <p:nvPr/>
        </p:nvSpPr>
        <p:spPr>
          <a:xfrm rot="0">
            <a:off x="584087" y="7437328"/>
            <a:ext cx="5115100" cy="1581129"/>
          </a:xfrm>
          <a:prstGeom prst="rect">
            <a:avLst/>
          </a:prstGeom>
        </p:spPr>
        <p:txBody>
          <a:bodyPr anchor="t" rtlCol="false" tIns="0" lIns="0" bIns="0" rIns="0">
            <a:spAutoFit/>
          </a:bodyPr>
          <a:lstStyle/>
          <a:p>
            <a:pPr algn="ctr">
              <a:lnSpc>
                <a:spcPts val="6301"/>
              </a:lnSpc>
              <a:spcBef>
                <a:spcPct val="0"/>
              </a:spcBef>
            </a:pPr>
            <a:r>
              <a:rPr lang="en-US" b="true" sz="4500">
                <a:solidFill>
                  <a:srgbClr val="1700D1"/>
                </a:solidFill>
                <a:latin typeface="Anonymous Pro Bold"/>
                <a:ea typeface="Anonymous Pro Bold"/>
                <a:cs typeface="Anonymous Pro Bold"/>
                <a:sym typeface="Anonymous Pro Bold"/>
              </a:rPr>
              <a:t>WHO IS HER TARGET AUDIENCE?</a:t>
            </a:r>
          </a:p>
        </p:txBody>
      </p:sp>
      <p:sp>
        <p:nvSpPr>
          <p:cNvPr name="TextBox 44" id="44"/>
          <p:cNvSpPr txBox="true"/>
          <p:nvPr/>
        </p:nvSpPr>
        <p:spPr>
          <a:xfrm rot="0">
            <a:off x="5866072" y="7765295"/>
            <a:ext cx="11836956" cy="1163320"/>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Anonymous Pro Bold"/>
                <a:ea typeface="Anonymous Pro Bold"/>
                <a:cs typeface="Anonymous Pro Bold"/>
                <a:sym typeface="Anonymous Pro Bold"/>
              </a:rPr>
              <a:t>Herself as a Store Manager and an Employee: To manage inventory effortlessly.</a:t>
            </a:r>
          </a:p>
          <a:p>
            <a:pPr algn="l">
              <a:lnSpc>
                <a:spcPts val="3079"/>
              </a:lnSpc>
              <a:spcBef>
                <a:spcPct val="0"/>
              </a:spcBef>
            </a:pPr>
            <a:r>
              <a:rPr lang="en-US" b="true" sz="2199">
                <a:solidFill>
                  <a:srgbClr val="000000"/>
                </a:solidFill>
                <a:latin typeface="Anonymous Pro Bold"/>
                <a:ea typeface="Anonymous Pro Bold"/>
                <a:cs typeface="Anonymous Pro Bold"/>
                <a:sym typeface="Anonymous Pro Bold"/>
              </a:rPr>
              <a:t>Customers like her friends: To get quick, reliable orders.</a:t>
            </a:r>
          </a:p>
          <a:p>
            <a:pPr algn="l">
              <a:lnSpc>
                <a:spcPts val="3079"/>
              </a:lnSpc>
              <a:spcBef>
                <a:spcPct val="0"/>
              </a:spcBef>
            </a:pPr>
            <a:r>
              <a:rPr lang="en-US" b="true" sz="2199">
                <a:solidFill>
                  <a:srgbClr val="000000"/>
                </a:solidFill>
                <a:latin typeface="Anonymous Pro Bold"/>
                <a:ea typeface="Anonymous Pro Bold"/>
                <a:cs typeface="Anonymous Pro Bold"/>
                <a:sym typeface="Anonymous Pro Bold"/>
              </a:rPr>
              <a:t>Employees in her team: To make stock updates simple and error-free.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6661786"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45825" y="2301613"/>
            <a:ext cx="6308129" cy="3166922"/>
            <a:chOff x="0" y="0"/>
            <a:chExt cx="8410839" cy="4222563"/>
          </a:xfrm>
        </p:grpSpPr>
        <p:sp>
          <p:nvSpPr>
            <p:cNvPr name="Freeform 26" id="26"/>
            <p:cNvSpPr/>
            <p:nvPr/>
          </p:nvSpPr>
          <p:spPr>
            <a:xfrm flipH="false" flipV="false" rot="0">
              <a:off x="679680" y="103964"/>
              <a:ext cx="7731159" cy="4118599"/>
            </a:xfrm>
            <a:custGeom>
              <a:avLst/>
              <a:gdLst/>
              <a:ahLst/>
              <a:cxnLst/>
              <a:rect r="r" b="b" t="t" l="l"/>
              <a:pathLst>
                <a:path h="4118599" w="7731159">
                  <a:moveTo>
                    <a:pt x="0" y="0"/>
                  </a:moveTo>
                  <a:lnTo>
                    <a:pt x="7731159" y="0"/>
                  </a:lnTo>
                  <a:lnTo>
                    <a:pt x="7731159" y="4118599"/>
                  </a:lnTo>
                  <a:lnTo>
                    <a:pt x="0" y="41185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0" y="0"/>
              <a:ext cx="1359360" cy="1319815"/>
            </a:xfrm>
            <a:custGeom>
              <a:avLst/>
              <a:gdLst/>
              <a:ahLst/>
              <a:cxnLst/>
              <a:rect r="r" b="b" t="t" l="l"/>
              <a:pathLst>
                <a:path h="1319815" w="1359360">
                  <a:moveTo>
                    <a:pt x="0" y="0"/>
                  </a:moveTo>
                  <a:lnTo>
                    <a:pt x="1359360" y="0"/>
                  </a:lnTo>
                  <a:lnTo>
                    <a:pt x="1359360" y="1319815"/>
                  </a:lnTo>
                  <a:lnTo>
                    <a:pt x="0" y="131981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8" id="28"/>
            <p:cNvSpPr txBox="true"/>
            <p:nvPr/>
          </p:nvSpPr>
          <p:spPr>
            <a:xfrm rot="0">
              <a:off x="1036366" y="1232099"/>
              <a:ext cx="7017787" cy="1925464"/>
            </a:xfrm>
            <a:prstGeom prst="rect">
              <a:avLst/>
            </a:prstGeom>
          </p:spPr>
          <p:txBody>
            <a:bodyPr anchor="t" rtlCol="false" tIns="0" lIns="0" bIns="0" rIns="0">
              <a:spAutoFit/>
            </a:bodyPr>
            <a:lstStyle/>
            <a:p>
              <a:pPr algn="ctr">
                <a:lnSpc>
                  <a:spcPts val="5208"/>
                </a:lnSpc>
              </a:pPr>
              <a:r>
                <a:rPr lang="en-US" b="true" sz="6127" spc="-208">
                  <a:solidFill>
                    <a:srgbClr val="000000"/>
                  </a:solidFill>
                  <a:latin typeface="Anonymous Pro Bold"/>
                  <a:ea typeface="Anonymous Pro Bold"/>
                  <a:cs typeface="Anonymous Pro Bold"/>
                  <a:sym typeface="Anonymous Pro Bold"/>
                </a:rPr>
                <a:t>COMPETITIVE ADVANTAGE</a:t>
              </a:r>
            </a:p>
          </p:txBody>
        </p:sp>
      </p:grpSp>
      <p:grpSp>
        <p:nvGrpSpPr>
          <p:cNvPr name="Group 29" id="29"/>
          <p:cNvGrpSpPr/>
          <p:nvPr/>
        </p:nvGrpSpPr>
        <p:grpSpPr>
          <a:xfrm rot="0">
            <a:off x="6661786" y="2381816"/>
            <a:ext cx="2986282" cy="4637113"/>
            <a:chOff x="0" y="0"/>
            <a:chExt cx="3981709" cy="6182817"/>
          </a:xfrm>
        </p:grpSpPr>
        <p:sp>
          <p:nvSpPr>
            <p:cNvPr name="Freeform 30" id="30"/>
            <p:cNvSpPr/>
            <p:nvPr/>
          </p:nvSpPr>
          <p:spPr>
            <a:xfrm flipH="false" flipV="false" rot="0">
              <a:off x="0" y="0"/>
              <a:ext cx="3981709" cy="6182817"/>
            </a:xfrm>
            <a:custGeom>
              <a:avLst/>
              <a:gdLst/>
              <a:ahLst/>
              <a:cxnLst/>
              <a:rect r="r" b="b" t="t" l="l"/>
              <a:pathLst>
                <a:path h="6182817" w="3981709">
                  <a:moveTo>
                    <a:pt x="0" y="0"/>
                  </a:moveTo>
                  <a:lnTo>
                    <a:pt x="3981709" y="0"/>
                  </a:lnTo>
                  <a:lnTo>
                    <a:pt x="3981709" y="6182817"/>
                  </a:lnTo>
                  <a:lnTo>
                    <a:pt x="0" y="6182817"/>
                  </a:lnTo>
                  <a:lnTo>
                    <a:pt x="0" y="0"/>
                  </a:lnTo>
                  <a:close/>
                </a:path>
              </a:pathLst>
            </a:custGeom>
            <a:blipFill>
              <a:blip r:embed="rId14">
                <a:extLst>
                  <a:ext uri="{96DAC541-7B7A-43D3-8B79-37D633B846F1}">
                    <asvg:svgBlip xmlns:asvg="http://schemas.microsoft.com/office/drawing/2016/SVG/main" r:embed="rId15"/>
                  </a:ext>
                </a:extLst>
              </a:blip>
              <a:stretch>
                <a:fillRect l="-27640" t="0" r="-27640" b="0"/>
              </a:stretch>
            </a:blipFill>
          </p:spPr>
        </p:sp>
        <p:sp>
          <p:nvSpPr>
            <p:cNvPr name="TextBox 31" id="31"/>
            <p:cNvSpPr txBox="true"/>
            <p:nvPr/>
          </p:nvSpPr>
          <p:spPr>
            <a:xfrm rot="0">
              <a:off x="277706" y="580235"/>
              <a:ext cx="3426296" cy="5003296"/>
            </a:xfrm>
            <a:prstGeom prst="rect">
              <a:avLst/>
            </a:prstGeom>
          </p:spPr>
          <p:txBody>
            <a:bodyPr anchor="t" rtlCol="false" tIns="0" lIns="0" bIns="0" rIns="0">
              <a:spAutoFit/>
            </a:bodyPr>
            <a:lstStyle/>
            <a:p>
              <a:pPr algn="ctr">
                <a:lnSpc>
                  <a:spcPts val="3356"/>
                </a:lnSpc>
              </a:pPr>
              <a:r>
                <a:rPr lang="en-US" sz="2684">
                  <a:solidFill>
                    <a:srgbClr val="000000"/>
                  </a:solidFill>
                  <a:latin typeface="Cousine"/>
                  <a:ea typeface="Cousine"/>
                  <a:cs typeface="Cousine"/>
                  <a:sym typeface="Cousine"/>
                </a:rPr>
                <a:t>Unlike other stores or or</a:t>
              </a:r>
              <a:r>
                <a:rPr lang="en-US" sz="2684">
                  <a:solidFill>
                    <a:srgbClr val="000000"/>
                  </a:solidFill>
                  <a:latin typeface="Cousine"/>
                  <a:ea typeface="Cousine"/>
                  <a:cs typeface="Cousine"/>
                  <a:sym typeface="Cousine"/>
                </a:rPr>
                <a:t>dering systems, she built DrinksLaunch with her own challenges in mind:</a:t>
              </a:r>
            </a:p>
          </p:txBody>
        </p:sp>
      </p:grpSp>
      <p:sp>
        <p:nvSpPr>
          <p:cNvPr name="Freeform 32" id="32"/>
          <p:cNvSpPr/>
          <p:nvPr/>
        </p:nvSpPr>
        <p:spPr>
          <a:xfrm flipH="false" flipV="false" rot="0">
            <a:off x="5699188" y="4786097"/>
            <a:ext cx="640554" cy="1090726"/>
          </a:xfrm>
          <a:custGeom>
            <a:avLst/>
            <a:gdLst/>
            <a:ahLst/>
            <a:cxnLst/>
            <a:rect r="r" b="b" t="t" l="l"/>
            <a:pathLst>
              <a:path h="1090726" w="640554">
                <a:moveTo>
                  <a:pt x="0" y="0"/>
                </a:moveTo>
                <a:lnTo>
                  <a:pt x="640553" y="0"/>
                </a:lnTo>
                <a:lnTo>
                  <a:pt x="640553" y="1090726"/>
                </a:lnTo>
                <a:lnTo>
                  <a:pt x="0" y="109072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3" id="33"/>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4" id="34"/>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5" id="35"/>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6" id="36"/>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7" id="37"/>
          <p:cNvSpPr txBox="true"/>
          <p:nvPr/>
        </p:nvSpPr>
        <p:spPr>
          <a:xfrm rot="0">
            <a:off x="9971917" y="2504329"/>
            <a:ext cx="7268937" cy="4277995"/>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Canva Sans Bold"/>
                <a:ea typeface="Canva Sans Bold"/>
                <a:cs typeface="Canva Sans Bold"/>
                <a:sym typeface="Canva Sans Bold"/>
              </a:rPr>
              <a:t>Real-time stock updates:</a:t>
            </a:r>
            <a:r>
              <a:rPr lang="en-US" sz="2199">
                <a:solidFill>
                  <a:srgbClr val="000000"/>
                </a:solidFill>
                <a:latin typeface="Canva Sans"/>
                <a:ea typeface="Canva Sans"/>
                <a:cs typeface="Canva Sans"/>
                <a:sym typeface="Canva Sans"/>
              </a:rPr>
              <a:t> She always knows exactly what’s available, avoiding delays and mistakes.</a:t>
            </a:r>
          </a:p>
          <a:p>
            <a:pPr algn="l">
              <a:lnSpc>
                <a:spcPts val="3079"/>
              </a:lnSpc>
              <a:spcBef>
                <a:spcPct val="0"/>
              </a:spcBef>
            </a:pPr>
            <a:r>
              <a:rPr lang="en-US" b="true" sz="2199">
                <a:solidFill>
                  <a:srgbClr val="000000"/>
                </a:solidFill>
                <a:latin typeface="Canva Sans Bold"/>
                <a:ea typeface="Canva Sans Bold"/>
                <a:cs typeface="Canva Sans Bold"/>
                <a:sym typeface="Canva Sans Bold"/>
              </a:rPr>
              <a:t>All-in-one management: </a:t>
            </a:r>
            <a:r>
              <a:rPr lang="en-US" sz="2199">
                <a:solidFill>
                  <a:srgbClr val="000000"/>
                </a:solidFill>
                <a:latin typeface="Canva Sans"/>
                <a:ea typeface="Canva Sans"/>
                <a:cs typeface="Canva Sans"/>
                <a:sym typeface="Canva Sans"/>
              </a:rPr>
              <a:t>Employees can add, edit, or delete products instantly—no more messy spreadsheets.</a:t>
            </a:r>
          </a:p>
          <a:p>
            <a:pPr algn="l">
              <a:lnSpc>
                <a:spcPts val="3079"/>
              </a:lnSpc>
              <a:spcBef>
                <a:spcPct val="0"/>
              </a:spcBef>
            </a:pPr>
            <a:r>
              <a:rPr lang="en-US" b="true" sz="2199">
                <a:solidFill>
                  <a:srgbClr val="000000"/>
                </a:solidFill>
                <a:latin typeface="Canva Sans Bold"/>
                <a:ea typeface="Canva Sans Bold"/>
                <a:cs typeface="Canva Sans Bold"/>
                <a:sym typeface="Canva Sans Bold"/>
              </a:rPr>
              <a:t>Instant receipts for customers:</a:t>
            </a:r>
            <a:r>
              <a:rPr lang="en-US" sz="2199">
                <a:solidFill>
                  <a:srgbClr val="000000"/>
                </a:solidFill>
                <a:latin typeface="Canva Sans"/>
                <a:ea typeface="Canva Sans"/>
                <a:cs typeface="Canva Sans"/>
                <a:sym typeface="Canva Sans"/>
              </a:rPr>
              <a:t> No waiting, no confusion—orders are accurate and fast.</a:t>
            </a:r>
          </a:p>
          <a:p>
            <a:pPr algn="l">
              <a:lnSpc>
                <a:spcPts val="3079"/>
              </a:lnSpc>
              <a:spcBef>
                <a:spcPct val="0"/>
              </a:spcBef>
            </a:pPr>
            <a:r>
              <a:rPr lang="en-US" b="true" sz="2199">
                <a:solidFill>
                  <a:srgbClr val="000000"/>
                </a:solidFill>
                <a:latin typeface="Canva Sans Bold"/>
                <a:ea typeface="Canva Sans Bold"/>
                <a:cs typeface="Canva Sans Bold"/>
                <a:sym typeface="Canva Sans Bold"/>
              </a:rPr>
              <a:t>Multi-store oversight:</a:t>
            </a:r>
            <a:r>
              <a:rPr lang="en-US" sz="2199">
                <a:solidFill>
                  <a:srgbClr val="000000"/>
                </a:solidFill>
                <a:latin typeface="Canva Sans"/>
                <a:ea typeface="Canva Sans"/>
                <a:cs typeface="Canva Sans"/>
                <a:sym typeface="Canva Sans"/>
              </a:rPr>
              <a:t> She can track inventory across multiple locations effortlessly.</a:t>
            </a:r>
          </a:p>
          <a:p>
            <a:pPr algn="l">
              <a:lnSpc>
                <a:spcPts val="3079"/>
              </a:lnSpc>
              <a:spcBef>
                <a:spcPct val="0"/>
              </a:spcBef>
            </a:pPr>
            <a:r>
              <a:rPr lang="en-US" b="true" sz="2199">
                <a:solidFill>
                  <a:srgbClr val="000000"/>
                </a:solidFill>
                <a:latin typeface="Canva Sans Bold"/>
                <a:ea typeface="Canva Sans Bold"/>
                <a:cs typeface="Canva Sans Bold"/>
                <a:sym typeface="Canva Sans Bold"/>
              </a:rPr>
              <a:t>User-friendly and visually appealing:</a:t>
            </a:r>
            <a:r>
              <a:rPr lang="en-US" sz="2199">
                <a:solidFill>
                  <a:srgbClr val="000000"/>
                </a:solidFill>
                <a:latin typeface="Canva Sans"/>
                <a:ea typeface="Canva Sans"/>
                <a:cs typeface="Canva Sans"/>
                <a:sym typeface="Canva Sans"/>
              </a:rPr>
              <a:t> Makes ordering and management simple and enjoyable for everyone.</a:t>
            </a:r>
          </a:p>
        </p:txBody>
      </p:sp>
      <p:grpSp>
        <p:nvGrpSpPr>
          <p:cNvPr name="Group 38" id="38"/>
          <p:cNvGrpSpPr/>
          <p:nvPr/>
        </p:nvGrpSpPr>
        <p:grpSpPr>
          <a:xfrm rot="0">
            <a:off x="10135367" y="6992369"/>
            <a:ext cx="6877400" cy="1991141"/>
            <a:chOff x="0" y="0"/>
            <a:chExt cx="9169867" cy="2654855"/>
          </a:xfrm>
        </p:grpSpPr>
        <p:sp>
          <p:nvSpPr>
            <p:cNvPr name="Freeform 39" id="39"/>
            <p:cNvSpPr/>
            <p:nvPr/>
          </p:nvSpPr>
          <p:spPr>
            <a:xfrm flipH="false" flipV="false" rot="0">
              <a:off x="0" y="0"/>
              <a:ext cx="9169867" cy="2654855"/>
            </a:xfrm>
            <a:custGeom>
              <a:avLst/>
              <a:gdLst/>
              <a:ahLst/>
              <a:cxnLst/>
              <a:rect r="r" b="b" t="t" l="l"/>
              <a:pathLst>
                <a:path h="2654855" w="9169867">
                  <a:moveTo>
                    <a:pt x="0" y="0"/>
                  </a:moveTo>
                  <a:lnTo>
                    <a:pt x="9169867" y="0"/>
                  </a:lnTo>
                  <a:lnTo>
                    <a:pt x="9169867" y="2654855"/>
                  </a:lnTo>
                  <a:lnTo>
                    <a:pt x="0" y="2654855"/>
                  </a:lnTo>
                  <a:lnTo>
                    <a:pt x="0" y="0"/>
                  </a:lnTo>
                  <a:close/>
                </a:path>
              </a:pathLst>
            </a:custGeom>
            <a:blipFill>
              <a:blip r:embed="rId14">
                <a:extLst>
                  <a:ext uri="{96DAC541-7B7A-43D3-8B79-37D633B846F1}">
                    <asvg:svgBlip xmlns:asvg="http://schemas.microsoft.com/office/drawing/2016/SVG/main" r:embed="rId15"/>
                  </a:ext>
                </a:extLst>
              </a:blip>
              <a:stretch>
                <a:fillRect l="0" t="-122699" r="0" b="-122699"/>
              </a:stretch>
            </a:blipFill>
          </p:spPr>
        </p:sp>
        <p:sp>
          <p:nvSpPr>
            <p:cNvPr name="TextBox 40" id="40"/>
            <p:cNvSpPr txBox="true"/>
            <p:nvPr/>
          </p:nvSpPr>
          <p:spPr>
            <a:xfrm rot="0">
              <a:off x="553504" y="173816"/>
              <a:ext cx="8043128" cy="2286414"/>
            </a:xfrm>
            <a:prstGeom prst="rect">
              <a:avLst/>
            </a:prstGeom>
          </p:spPr>
          <p:txBody>
            <a:bodyPr anchor="t" rtlCol="false" tIns="0" lIns="0" bIns="0" rIns="0">
              <a:spAutoFit/>
            </a:bodyPr>
            <a:lstStyle/>
            <a:p>
              <a:pPr algn="ctr">
                <a:lnSpc>
                  <a:spcPts val="2751"/>
                </a:lnSpc>
              </a:pPr>
              <a:r>
                <a:rPr lang="en-US" sz="2201">
                  <a:solidFill>
                    <a:srgbClr val="000000"/>
                  </a:solidFill>
                  <a:latin typeface="Cousine"/>
                  <a:ea typeface="Cousine"/>
                  <a:cs typeface="Cousine"/>
                  <a:sym typeface="Cousine"/>
                </a:rPr>
                <a:t>In short, DrinksLaunch solves problems the way she exp</a:t>
              </a:r>
              <a:r>
                <a:rPr lang="en-US" sz="2201">
                  <a:solidFill>
                    <a:srgbClr val="000000"/>
                  </a:solidFill>
                  <a:latin typeface="Cousine"/>
                  <a:ea typeface="Cousine"/>
                  <a:cs typeface="Cousine"/>
                  <a:sym typeface="Cousine"/>
                </a:rPr>
                <a:t>erienced them, making it smarter, faster, and more reliable than traditional systems.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7507224"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16488537" y="7425722"/>
            <a:ext cx="640554" cy="1090726"/>
          </a:xfrm>
          <a:custGeom>
            <a:avLst/>
            <a:gdLst/>
            <a:ahLst/>
            <a:cxnLst/>
            <a:rect r="r" b="b" t="t" l="l"/>
            <a:pathLst>
              <a:path h="1090726" w="640554">
                <a:moveTo>
                  <a:pt x="0" y="0"/>
                </a:moveTo>
                <a:lnTo>
                  <a:pt x="640554" y="0"/>
                </a:lnTo>
                <a:lnTo>
                  <a:pt x="640554" y="1090726"/>
                </a:lnTo>
                <a:lnTo>
                  <a:pt x="0" y="10907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6" id="26"/>
          <p:cNvGrpSpPr/>
          <p:nvPr/>
        </p:nvGrpSpPr>
        <p:grpSpPr>
          <a:xfrm rot="0">
            <a:off x="3308704" y="4055869"/>
            <a:ext cx="11616172" cy="2513317"/>
            <a:chOff x="0" y="0"/>
            <a:chExt cx="15488230" cy="3351090"/>
          </a:xfrm>
        </p:grpSpPr>
        <p:sp>
          <p:nvSpPr>
            <p:cNvPr name="Freeform 27" id="27"/>
            <p:cNvSpPr/>
            <p:nvPr/>
          </p:nvSpPr>
          <p:spPr>
            <a:xfrm flipH="false" flipV="false" rot="0">
              <a:off x="0" y="0"/>
              <a:ext cx="15488230" cy="3351090"/>
            </a:xfrm>
            <a:custGeom>
              <a:avLst/>
              <a:gdLst/>
              <a:ahLst/>
              <a:cxnLst/>
              <a:rect r="r" b="b" t="t" l="l"/>
              <a:pathLst>
                <a:path h="3351090" w="15488230">
                  <a:moveTo>
                    <a:pt x="0" y="0"/>
                  </a:moveTo>
                  <a:lnTo>
                    <a:pt x="15488230" y="0"/>
                  </a:lnTo>
                  <a:lnTo>
                    <a:pt x="15488230" y="3351090"/>
                  </a:lnTo>
                  <a:lnTo>
                    <a:pt x="0" y="33510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28" id="28"/>
            <p:cNvSpPr txBox="true"/>
            <p:nvPr/>
          </p:nvSpPr>
          <p:spPr>
            <a:xfrm rot="0">
              <a:off x="283717" y="1333703"/>
              <a:ext cx="15125006" cy="845608"/>
            </a:xfrm>
            <a:prstGeom prst="rect">
              <a:avLst/>
            </a:prstGeom>
          </p:spPr>
          <p:txBody>
            <a:bodyPr anchor="t" rtlCol="false" tIns="0" lIns="0" bIns="0" rIns="0">
              <a:spAutoFit/>
            </a:bodyPr>
            <a:lstStyle/>
            <a:p>
              <a:pPr algn="ctr">
                <a:lnSpc>
                  <a:spcPts val="4250"/>
                </a:lnSpc>
              </a:pPr>
              <a:r>
                <a:rPr lang="en-US" b="true" sz="5000" spc="-170">
                  <a:solidFill>
                    <a:srgbClr val="000000"/>
                  </a:solidFill>
                  <a:latin typeface="Anonymous Pro Bold"/>
                  <a:ea typeface="Anonymous Pro Bold"/>
                  <a:cs typeface="Anonymous Pro Bold"/>
                  <a:sym typeface="Anonymous Pro Bold"/>
                </a:rPr>
                <a:t>METHODOLOGY AND TECHNOLOGI</a:t>
              </a:r>
              <a:r>
                <a:rPr lang="en-US" b="true" sz="5000" spc="-170">
                  <a:solidFill>
                    <a:srgbClr val="000000"/>
                  </a:solidFill>
                  <a:latin typeface="Anonymous Pro Bold"/>
                  <a:ea typeface="Anonymous Pro Bold"/>
                  <a:cs typeface="Anonymous Pro Bold"/>
                  <a:sym typeface="Anonymous Pro Bold"/>
                </a:rPr>
                <a:t>ES USED</a:t>
              </a:r>
            </a:p>
          </p:txBody>
        </p:sp>
      </p:grpSp>
      <p:sp>
        <p:nvSpPr>
          <p:cNvPr name="TextBox 29" id="29"/>
          <p:cNvSpPr txBox="true"/>
          <p:nvPr/>
        </p:nvSpPr>
        <p:spPr>
          <a:xfrm rot="0">
            <a:off x="1417401" y="2547891"/>
            <a:ext cx="15453198" cy="1332303"/>
          </a:xfrm>
          <a:prstGeom prst="rect">
            <a:avLst/>
          </a:prstGeom>
        </p:spPr>
        <p:txBody>
          <a:bodyPr anchor="t" rtlCol="false" tIns="0" lIns="0" bIns="0" rIns="0">
            <a:spAutoFit/>
          </a:bodyPr>
          <a:lstStyle/>
          <a:p>
            <a:pPr algn="ctr">
              <a:lnSpc>
                <a:spcPts val="2110"/>
              </a:lnSpc>
            </a:pPr>
            <a:r>
              <a:rPr lang="en-US" sz="1688" b="true">
                <a:solidFill>
                  <a:srgbClr val="000000"/>
                </a:solidFill>
                <a:latin typeface="Cousine Bold"/>
                <a:ea typeface="Cousine Bold"/>
                <a:cs typeface="Cousine Bold"/>
                <a:sym typeface="Cousine Bold"/>
              </a:rPr>
              <a:t>Problem-Driven Design</a:t>
            </a:r>
          </a:p>
          <a:p>
            <a:pPr algn="ctr">
              <a:lnSpc>
                <a:spcPts val="2110"/>
              </a:lnSpc>
            </a:pPr>
            <a:r>
              <a:rPr lang="en-US" sz="1688">
                <a:solidFill>
                  <a:srgbClr val="000000"/>
                </a:solidFill>
                <a:latin typeface="Cousine"/>
                <a:ea typeface="Cousine"/>
                <a:cs typeface="Cousine"/>
                <a:sym typeface="Cousine"/>
              </a:rPr>
              <a:t>She started by identifying the real challenges she faced: stock confusion, slow ordering, and messy inventory updates.</a:t>
            </a:r>
          </a:p>
          <a:p>
            <a:pPr algn="ctr">
              <a:lnSpc>
                <a:spcPts val="2110"/>
              </a:lnSpc>
            </a:pPr>
          </a:p>
          <a:p>
            <a:pPr algn="ctr">
              <a:lnSpc>
                <a:spcPts val="2110"/>
              </a:lnSpc>
            </a:pPr>
            <a:r>
              <a:rPr lang="en-US" sz="1688" b="true">
                <a:solidFill>
                  <a:srgbClr val="000000"/>
                </a:solidFill>
                <a:latin typeface="Cousine Bold"/>
                <a:ea typeface="Cousine Bold"/>
                <a:cs typeface="Cousine Bold"/>
                <a:sym typeface="Cousine Bold"/>
              </a:rPr>
              <a:t>System Planning &amp; Structure</a:t>
            </a:r>
          </a:p>
          <a:p>
            <a:pPr algn="ctr">
              <a:lnSpc>
                <a:spcPts val="2110"/>
              </a:lnSpc>
            </a:pPr>
            <a:r>
              <a:rPr lang="en-US" sz="1688">
                <a:solidFill>
                  <a:srgbClr val="000000"/>
                </a:solidFill>
                <a:latin typeface="Cousine"/>
                <a:ea typeface="Cousine"/>
                <a:cs typeface="Cousine"/>
                <a:sym typeface="Cousine"/>
              </a:rPr>
              <a:t>She mapped out the flow for employees and customers, created store dictionar</a:t>
            </a:r>
            <a:r>
              <a:rPr lang="en-US" sz="1688">
                <a:solidFill>
                  <a:srgbClr val="000000"/>
                </a:solidFill>
                <a:latin typeface="Cousine"/>
                <a:ea typeface="Cousine"/>
                <a:cs typeface="Cousine"/>
                <a:sym typeface="Cousine"/>
              </a:rPr>
              <a:t>ies, pricing logic, and receipt generation.</a:t>
            </a:r>
          </a:p>
        </p:txBody>
      </p:sp>
      <p:sp>
        <p:nvSpPr>
          <p:cNvPr name="TextBox 30" id="30"/>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1" id="31"/>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2" id="32"/>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3" id="33"/>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4" id="34"/>
          <p:cNvSpPr txBox="true"/>
          <p:nvPr/>
        </p:nvSpPr>
        <p:spPr>
          <a:xfrm rot="0">
            <a:off x="571474" y="6816836"/>
            <a:ext cx="17090631" cy="2665803"/>
          </a:xfrm>
          <a:prstGeom prst="rect">
            <a:avLst/>
          </a:prstGeom>
        </p:spPr>
        <p:txBody>
          <a:bodyPr anchor="t" rtlCol="false" tIns="0" lIns="0" bIns="0" rIns="0">
            <a:spAutoFit/>
          </a:bodyPr>
          <a:lstStyle/>
          <a:p>
            <a:pPr algn="ctr">
              <a:lnSpc>
                <a:spcPts val="2110"/>
              </a:lnSpc>
            </a:pPr>
            <a:r>
              <a:rPr lang="en-US" sz="1688" b="true">
                <a:solidFill>
                  <a:srgbClr val="000000"/>
                </a:solidFill>
                <a:latin typeface="Cousine Bold"/>
                <a:ea typeface="Cousine Bold"/>
                <a:cs typeface="Cousine Bold"/>
                <a:sym typeface="Cousine Bold"/>
              </a:rPr>
              <a:t>Incremental Development</a:t>
            </a:r>
          </a:p>
          <a:p>
            <a:pPr algn="ctr">
              <a:lnSpc>
                <a:spcPts val="2110"/>
              </a:lnSpc>
            </a:pPr>
            <a:r>
              <a:rPr lang="en-US" sz="1688">
                <a:solidFill>
                  <a:srgbClr val="000000"/>
                </a:solidFill>
                <a:latin typeface="Cousine"/>
                <a:ea typeface="Cousine"/>
                <a:cs typeface="Cousine"/>
                <a:sym typeface="Cousine"/>
              </a:rPr>
              <a:t> The app was built step-by-step—first basic functions, then store selection, ordering, validation, and receipt printing.</a:t>
            </a:r>
          </a:p>
          <a:p>
            <a:pPr algn="ctr">
              <a:lnSpc>
                <a:spcPts val="2110"/>
              </a:lnSpc>
            </a:pPr>
          </a:p>
          <a:p>
            <a:pPr algn="ctr">
              <a:lnSpc>
                <a:spcPts val="2110"/>
              </a:lnSpc>
            </a:pPr>
            <a:r>
              <a:rPr lang="en-US" sz="1688" b="true">
                <a:solidFill>
                  <a:srgbClr val="000000"/>
                </a:solidFill>
                <a:latin typeface="Cousine Bold"/>
                <a:ea typeface="Cousine Bold"/>
                <a:cs typeface="Cousine Bold"/>
                <a:sym typeface="Cousine Bold"/>
              </a:rPr>
              <a:t>User-Centered Testing</a:t>
            </a:r>
          </a:p>
          <a:p>
            <a:pPr algn="ctr">
              <a:lnSpc>
                <a:spcPts val="2110"/>
              </a:lnSpc>
            </a:pPr>
            <a:r>
              <a:rPr lang="en-US" sz="1688">
                <a:solidFill>
                  <a:srgbClr val="000000"/>
                </a:solidFill>
                <a:latin typeface="Cousine"/>
                <a:ea typeface="Cousine"/>
                <a:cs typeface="Cousine"/>
                <a:sym typeface="Cousine"/>
              </a:rPr>
              <a:t>She tested every feature from both the employee side and customer side to ensure clarity, speed, and ease of use.</a:t>
            </a:r>
          </a:p>
          <a:p>
            <a:pPr algn="ctr">
              <a:lnSpc>
                <a:spcPts val="2110"/>
              </a:lnSpc>
            </a:pPr>
          </a:p>
          <a:p>
            <a:pPr algn="ctr">
              <a:lnSpc>
                <a:spcPts val="2110"/>
              </a:lnSpc>
            </a:pPr>
            <a:r>
              <a:rPr lang="en-US" sz="1688" b="true">
                <a:solidFill>
                  <a:srgbClr val="000000"/>
                </a:solidFill>
                <a:latin typeface="Cousine Bold"/>
                <a:ea typeface="Cousine Bold"/>
                <a:cs typeface="Cousine Bold"/>
                <a:sym typeface="Cousine Bold"/>
              </a:rPr>
              <a:t>Continuous Improvement</a:t>
            </a:r>
          </a:p>
          <a:p>
            <a:pPr algn="ctr">
              <a:lnSpc>
                <a:spcPts val="2110"/>
              </a:lnSpc>
            </a:pPr>
            <a:r>
              <a:rPr lang="en-US" sz="1688">
                <a:solidFill>
                  <a:srgbClr val="000000"/>
                </a:solidFill>
                <a:latin typeface="Cousine"/>
                <a:ea typeface="Cousine"/>
                <a:cs typeface="Cousine"/>
                <a:sym typeface="Cousine"/>
              </a:rPr>
              <a:t>Whenever she discover</a:t>
            </a:r>
            <a:r>
              <a:rPr lang="en-US" sz="1688">
                <a:solidFill>
                  <a:srgbClr val="000000"/>
                </a:solidFill>
                <a:latin typeface="Cousine"/>
                <a:ea typeface="Cousine"/>
                <a:cs typeface="Cousine"/>
                <a:sym typeface="Cousine"/>
              </a:rPr>
              <a:t>ed a problem (missing stock, invalid input, unclear messages), she refined the system to make it smarter and smoother.</a:t>
            </a:r>
          </a:p>
          <a:p>
            <a:pPr algn="ctr">
              <a:lnSpc>
                <a:spcPts val="211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8508196"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3670309" y="3305317"/>
            <a:ext cx="7658637" cy="2093090"/>
            <a:chOff x="0" y="0"/>
            <a:chExt cx="10211516" cy="2790787"/>
          </a:xfrm>
        </p:grpSpPr>
        <p:sp>
          <p:nvSpPr>
            <p:cNvPr name="Freeform 26" id="26"/>
            <p:cNvSpPr/>
            <p:nvPr/>
          </p:nvSpPr>
          <p:spPr>
            <a:xfrm flipH="false" flipV="false" rot="0">
              <a:off x="457916" y="680462"/>
              <a:ext cx="9753600" cy="2110324"/>
            </a:xfrm>
            <a:custGeom>
              <a:avLst/>
              <a:gdLst/>
              <a:ahLst/>
              <a:cxnLst/>
              <a:rect r="r" b="b" t="t" l="l"/>
              <a:pathLst>
                <a:path h="2110324" w="9753600">
                  <a:moveTo>
                    <a:pt x="0" y="0"/>
                  </a:moveTo>
                  <a:lnTo>
                    <a:pt x="9753600" y="0"/>
                  </a:lnTo>
                  <a:lnTo>
                    <a:pt x="9753600" y="2110325"/>
                  </a:lnTo>
                  <a:lnTo>
                    <a:pt x="0" y="21103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27" id="27"/>
            <p:cNvSpPr txBox="true"/>
            <p:nvPr/>
          </p:nvSpPr>
          <p:spPr>
            <a:xfrm rot="0">
              <a:off x="457916" y="976167"/>
              <a:ext cx="9266633" cy="1680841"/>
            </a:xfrm>
            <a:prstGeom prst="rect">
              <a:avLst/>
            </a:prstGeom>
          </p:spPr>
          <p:txBody>
            <a:bodyPr anchor="t" rtlCol="false" tIns="0" lIns="0" bIns="0" rIns="0">
              <a:spAutoFit/>
            </a:bodyPr>
            <a:lstStyle/>
            <a:p>
              <a:pPr algn="ctr">
                <a:lnSpc>
                  <a:spcPts val="4571"/>
                </a:lnSpc>
              </a:pPr>
              <a:r>
                <a:rPr lang="en-US" b="true" sz="5378" spc="-182">
                  <a:solidFill>
                    <a:srgbClr val="000000"/>
                  </a:solidFill>
                  <a:latin typeface="Anonymous Pro Bold"/>
                  <a:ea typeface="Anonymous Pro Bold"/>
                  <a:cs typeface="Anonymous Pro Bold"/>
                  <a:sym typeface="Anonymous Pro Bold"/>
                </a:rPr>
                <a:t>ME</a:t>
              </a:r>
              <a:r>
                <a:rPr lang="en-US" b="true" sz="5378" spc="-182">
                  <a:solidFill>
                    <a:srgbClr val="000000"/>
                  </a:solidFill>
                  <a:latin typeface="Anonymous Pro Bold"/>
                  <a:ea typeface="Anonymous Pro Bold"/>
                  <a:cs typeface="Anonymous Pro Bold"/>
                  <a:sym typeface="Anonymous Pro Bold"/>
                </a:rPr>
                <a:t>THODOLOGY AND TECHNOLOGIES USED</a:t>
              </a:r>
            </a:p>
          </p:txBody>
        </p:sp>
        <p:sp>
          <p:nvSpPr>
            <p:cNvPr name="Freeform 28" id="28"/>
            <p:cNvSpPr/>
            <p:nvPr/>
          </p:nvSpPr>
          <p:spPr>
            <a:xfrm flipH="false" flipV="false" rot="0">
              <a:off x="0" y="0"/>
              <a:ext cx="1113955" cy="1735625"/>
            </a:xfrm>
            <a:custGeom>
              <a:avLst/>
              <a:gdLst/>
              <a:ahLst/>
              <a:cxnLst/>
              <a:rect r="r" b="b" t="t" l="l"/>
              <a:pathLst>
                <a:path h="1735625" w="1113955">
                  <a:moveTo>
                    <a:pt x="0" y="0"/>
                  </a:moveTo>
                  <a:lnTo>
                    <a:pt x="1113955" y="0"/>
                  </a:lnTo>
                  <a:lnTo>
                    <a:pt x="1113955" y="1735625"/>
                  </a:lnTo>
                  <a:lnTo>
                    <a:pt x="0" y="17356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29" id="29"/>
          <p:cNvSpPr txBox="true"/>
          <p:nvPr/>
        </p:nvSpPr>
        <p:spPr>
          <a:xfrm rot="0">
            <a:off x="11882513" y="3047306"/>
            <a:ext cx="5130254" cy="949398"/>
          </a:xfrm>
          <a:prstGeom prst="rect">
            <a:avLst/>
          </a:prstGeom>
        </p:spPr>
        <p:txBody>
          <a:bodyPr anchor="t" rtlCol="false" tIns="0" lIns="0" bIns="0" rIns="0">
            <a:spAutoFit/>
          </a:bodyPr>
          <a:lstStyle/>
          <a:p>
            <a:pPr algn="just">
              <a:lnSpc>
                <a:spcPts val="2485"/>
              </a:lnSpc>
            </a:pPr>
            <a:r>
              <a:rPr lang="en-US" sz="1988" b="true">
                <a:solidFill>
                  <a:srgbClr val="000000"/>
                </a:solidFill>
                <a:latin typeface="Cousine Bold"/>
                <a:ea typeface="Cousine Bold"/>
                <a:cs typeface="Cousine Bold"/>
                <a:sym typeface="Cousine Bold"/>
              </a:rPr>
              <a:t>Python </a:t>
            </a:r>
          </a:p>
          <a:p>
            <a:pPr algn="l">
              <a:lnSpc>
                <a:spcPts val="2485"/>
              </a:lnSpc>
            </a:pPr>
            <a:r>
              <a:rPr lang="en-US" sz="1988">
                <a:solidFill>
                  <a:srgbClr val="000000"/>
                </a:solidFill>
                <a:latin typeface="Cousine"/>
                <a:ea typeface="Cousine"/>
                <a:cs typeface="Cousine"/>
                <a:sym typeface="Cousine"/>
              </a:rPr>
              <a:t>Core programm</a:t>
            </a:r>
            <a:r>
              <a:rPr lang="en-US" sz="1988">
                <a:solidFill>
                  <a:srgbClr val="000000"/>
                </a:solidFill>
                <a:latin typeface="Cousine"/>
                <a:ea typeface="Cousine"/>
                <a:cs typeface="Cousine"/>
                <a:sym typeface="Cousine"/>
              </a:rPr>
              <a:t>ing language used to build all system logic.</a:t>
            </a:r>
          </a:p>
        </p:txBody>
      </p:sp>
      <p:sp>
        <p:nvSpPr>
          <p:cNvPr name="TextBox 30" id="30"/>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1" id="31"/>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2" id="32"/>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3" id="33"/>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4" id="34"/>
          <p:cNvSpPr txBox="true"/>
          <p:nvPr/>
        </p:nvSpPr>
        <p:spPr>
          <a:xfrm rot="0">
            <a:off x="11882513" y="4332812"/>
            <a:ext cx="5130254" cy="949398"/>
          </a:xfrm>
          <a:prstGeom prst="rect">
            <a:avLst/>
          </a:prstGeom>
        </p:spPr>
        <p:txBody>
          <a:bodyPr anchor="t" rtlCol="false" tIns="0" lIns="0" bIns="0" rIns="0">
            <a:spAutoFit/>
          </a:bodyPr>
          <a:lstStyle/>
          <a:p>
            <a:pPr algn="l">
              <a:lnSpc>
                <a:spcPts val="2485"/>
              </a:lnSpc>
            </a:pPr>
            <a:r>
              <a:rPr lang="en-US" sz="1988" b="true">
                <a:solidFill>
                  <a:srgbClr val="000000"/>
                </a:solidFill>
                <a:latin typeface="Cousine Bold"/>
                <a:ea typeface="Cousine Bold"/>
                <a:cs typeface="Cousine Bold"/>
                <a:sym typeface="Cousine Bold"/>
              </a:rPr>
              <a:t>Dictionaries &amp; Functions</a:t>
            </a:r>
          </a:p>
          <a:p>
            <a:pPr algn="l">
              <a:lnSpc>
                <a:spcPts val="2485"/>
              </a:lnSpc>
            </a:pPr>
            <a:r>
              <a:rPr lang="en-US" sz="1988">
                <a:solidFill>
                  <a:srgbClr val="000000"/>
                </a:solidFill>
                <a:latin typeface="Cousine"/>
                <a:ea typeface="Cousine"/>
                <a:cs typeface="Cousine"/>
                <a:sym typeface="Cousine"/>
              </a:rPr>
              <a:t>For dynamic storage, product m</a:t>
            </a:r>
            <a:r>
              <a:rPr lang="en-US" sz="1988">
                <a:solidFill>
                  <a:srgbClr val="000000"/>
                </a:solidFill>
                <a:latin typeface="Cousine"/>
                <a:ea typeface="Cousine"/>
                <a:cs typeface="Cousine"/>
                <a:sym typeface="Cousine"/>
              </a:rPr>
              <a:t>anagement, and modular features.</a:t>
            </a:r>
          </a:p>
        </p:txBody>
      </p:sp>
      <p:sp>
        <p:nvSpPr>
          <p:cNvPr name="TextBox 35" id="35"/>
          <p:cNvSpPr txBox="true"/>
          <p:nvPr/>
        </p:nvSpPr>
        <p:spPr>
          <a:xfrm rot="0">
            <a:off x="11882513" y="5615584"/>
            <a:ext cx="5130254" cy="949398"/>
          </a:xfrm>
          <a:prstGeom prst="rect">
            <a:avLst/>
          </a:prstGeom>
        </p:spPr>
        <p:txBody>
          <a:bodyPr anchor="t" rtlCol="false" tIns="0" lIns="0" bIns="0" rIns="0">
            <a:spAutoFit/>
          </a:bodyPr>
          <a:lstStyle/>
          <a:p>
            <a:pPr algn="l">
              <a:lnSpc>
                <a:spcPts val="2485"/>
              </a:lnSpc>
            </a:pPr>
            <a:r>
              <a:rPr lang="en-US" sz="1988" b="true">
                <a:solidFill>
                  <a:srgbClr val="000000"/>
                </a:solidFill>
                <a:latin typeface="Cousine Bold"/>
                <a:ea typeface="Cousine Bold"/>
                <a:cs typeface="Cousine Bold"/>
                <a:sym typeface="Cousine Bold"/>
              </a:rPr>
              <a:t>datetime module </a:t>
            </a:r>
          </a:p>
          <a:p>
            <a:pPr algn="l">
              <a:lnSpc>
                <a:spcPts val="2485"/>
              </a:lnSpc>
            </a:pPr>
            <a:r>
              <a:rPr lang="en-US" sz="1988">
                <a:solidFill>
                  <a:srgbClr val="000000"/>
                </a:solidFill>
                <a:latin typeface="Cousine"/>
                <a:ea typeface="Cousine"/>
                <a:cs typeface="Cousine"/>
                <a:sym typeface="Cousine"/>
              </a:rPr>
              <a:t>To generate real-time receipts wi</a:t>
            </a:r>
            <a:r>
              <a:rPr lang="en-US" sz="1988">
                <a:solidFill>
                  <a:srgbClr val="000000"/>
                </a:solidFill>
                <a:latin typeface="Cousine"/>
                <a:ea typeface="Cousine"/>
                <a:cs typeface="Cousine"/>
                <a:sym typeface="Cousine"/>
              </a:rPr>
              <a:t>th GMT+3 timestamps.</a:t>
            </a:r>
          </a:p>
        </p:txBody>
      </p:sp>
      <p:sp>
        <p:nvSpPr>
          <p:cNvPr name="TextBox 36" id="36"/>
          <p:cNvSpPr txBox="true"/>
          <p:nvPr/>
        </p:nvSpPr>
        <p:spPr>
          <a:xfrm rot="0">
            <a:off x="11882513" y="6898357"/>
            <a:ext cx="5130254" cy="1263723"/>
          </a:xfrm>
          <a:prstGeom prst="rect">
            <a:avLst/>
          </a:prstGeom>
        </p:spPr>
        <p:txBody>
          <a:bodyPr anchor="t" rtlCol="false" tIns="0" lIns="0" bIns="0" rIns="0">
            <a:spAutoFit/>
          </a:bodyPr>
          <a:lstStyle/>
          <a:p>
            <a:pPr algn="l">
              <a:lnSpc>
                <a:spcPts val="2485"/>
              </a:lnSpc>
            </a:pPr>
            <a:r>
              <a:rPr lang="en-US" sz="1988" b="true">
                <a:solidFill>
                  <a:srgbClr val="000000"/>
                </a:solidFill>
                <a:latin typeface="Cousine Bold"/>
                <a:ea typeface="Cousine Bold"/>
                <a:cs typeface="Cousine Bold"/>
                <a:sym typeface="Cousine Bold"/>
              </a:rPr>
              <a:t>pyfiglet library </a:t>
            </a:r>
          </a:p>
          <a:p>
            <a:pPr algn="l">
              <a:lnSpc>
                <a:spcPts val="2485"/>
              </a:lnSpc>
            </a:pPr>
            <a:r>
              <a:rPr lang="en-US" sz="1988">
                <a:solidFill>
                  <a:srgbClr val="000000"/>
                </a:solidFill>
                <a:latin typeface="Cousine"/>
                <a:ea typeface="Cousine"/>
                <a:cs typeface="Cousine"/>
                <a:sym typeface="Cousine"/>
              </a:rPr>
              <a:t>For stylish, professional ASCII banners and</a:t>
            </a:r>
            <a:r>
              <a:rPr lang="en-US" sz="1988">
                <a:solidFill>
                  <a:srgbClr val="000000"/>
                </a:solidFill>
                <a:latin typeface="Cousine"/>
                <a:ea typeface="Cousine"/>
                <a:cs typeface="Cousine"/>
                <a:sym typeface="Cousine"/>
              </a:rPr>
              <a:t> a better user experience.</a:t>
            </a:r>
          </a:p>
        </p:txBody>
      </p:sp>
      <p:sp>
        <p:nvSpPr>
          <p:cNvPr name="TextBox 37" id="37"/>
          <p:cNvSpPr txBox="true"/>
          <p:nvPr/>
        </p:nvSpPr>
        <p:spPr>
          <a:xfrm rot="0">
            <a:off x="904261" y="7050757"/>
            <a:ext cx="5130254" cy="949398"/>
          </a:xfrm>
          <a:prstGeom prst="rect">
            <a:avLst/>
          </a:prstGeom>
        </p:spPr>
        <p:txBody>
          <a:bodyPr anchor="t" rtlCol="false" tIns="0" lIns="0" bIns="0" rIns="0">
            <a:spAutoFit/>
          </a:bodyPr>
          <a:lstStyle/>
          <a:p>
            <a:pPr algn="l">
              <a:lnSpc>
                <a:spcPts val="2485"/>
              </a:lnSpc>
            </a:pPr>
            <a:r>
              <a:rPr lang="en-US" sz="1988" b="true">
                <a:solidFill>
                  <a:srgbClr val="000000"/>
                </a:solidFill>
                <a:latin typeface="Cousine Bold"/>
                <a:ea typeface="Cousine Bold"/>
                <a:cs typeface="Cousine Bold"/>
                <a:sym typeface="Cousine Bold"/>
              </a:rPr>
              <a:t>Input Validation</a:t>
            </a:r>
          </a:p>
          <a:p>
            <a:pPr algn="l">
              <a:lnSpc>
                <a:spcPts val="2485"/>
              </a:lnSpc>
            </a:pPr>
            <a:r>
              <a:rPr lang="en-US" sz="1988">
                <a:solidFill>
                  <a:srgbClr val="000000"/>
                </a:solidFill>
                <a:latin typeface="Cousine"/>
                <a:ea typeface="Cousine"/>
                <a:cs typeface="Cousine"/>
                <a:sym typeface="Cousine"/>
              </a:rPr>
              <a:t>To ensure us</a:t>
            </a:r>
            <a:r>
              <a:rPr lang="en-US" sz="1988">
                <a:solidFill>
                  <a:srgbClr val="000000"/>
                </a:solidFill>
                <a:latin typeface="Cousine"/>
                <a:ea typeface="Cousine"/>
                <a:cs typeface="Cousine"/>
                <a:sym typeface="Cousine"/>
              </a:rPr>
              <a:t>ers enter correct and safe data.</a:t>
            </a:r>
          </a:p>
        </p:txBody>
      </p:sp>
      <p:sp>
        <p:nvSpPr>
          <p:cNvPr name="TextBox 38" id="38"/>
          <p:cNvSpPr txBox="true"/>
          <p:nvPr/>
        </p:nvSpPr>
        <p:spPr>
          <a:xfrm rot="0">
            <a:off x="6288592" y="7050757"/>
            <a:ext cx="5130254" cy="949398"/>
          </a:xfrm>
          <a:prstGeom prst="rect">
            <a:avLst/>
          </a:prstGeom>
        </p:spPr>
        <p:txBody>
          <a:bodyPr anchor="t" rtlCol="false" tIns="0" lIns="0" bIns="0" rIns="0">
            <a:spAutoFit/>
          </a:bodyPr>
          <a:lstStyle/>
          <a:p>
            <a:pPr algn="l">
              <a:lnSpc>
                <a:spcPts val="2485"/>
              </a:lnSpc>
            </a:pPr>
            <a:r>
              <a:rPr lang="en-US" sz="1988" b="true">
                <a:solidFill>
                  <a:srgbClr val="000000"/>
                </a:solidFill>
                <a:latin typeface="Cousine Bold"/>
                <a:ea typeface="Cousine Bold"/>
                <a:cs typeface="Cousine Bold"/>
                <a:sym typeface="Cousine Bold"/>
              </a:rPr>
              <a:t>Loops &amp; Conditional Statements</a:t>
            </a:r>
          </a:p>
          <a:p>
            <a:pPr algn="l">
              <a:lnSpc>
                <a:spcPts val="2485"/>
              </a:lnSpc>
            </a:pPr>
            <a:r>
              <a:rPr lang="en-US" sz="1988">
                <a:solidFill>
                  <a:srgbClr val="000000"/>
                </a:solidFill>
                <a:latin typeface="Cousine"/>
                <a:ea typeface="Cousine"/>
                <a:cs typeface="Cousine"/>
                <a:sym typeface="Cousine"/>
              </a:rPr>
              <a:t>To man</a:t>
            </a:r>
            <a:r>
              <a:rPr lang="en-US" sz="1988">
                <a:solidFill>
                  <a:srgbClr val="000000"/>
                </a:solidFill>
                <a:latin typeface="Cousine"/>
                <a:ea typeface="Cousine"/>
                <a:cs typeface="Cousine"/>
                <a:sym typeface="Cousine"/>
              </a:rPr>
              <a:t>age menus, choices, and system flow.</a:t>
            </a:r>
          </a:p>
        </p:txBody>
      </p:sp>
      <p:sp>
        <p:nvSpPr>
          <p:cNvPr name="Freeform 39" id="39"/>
          <p:cNvSpPr/>
          <p:nvPr/>
        </p:nvSpPr>
        <p:spPr>
          <a:xfrm flipH="false" flipV="false" rot="0">
            <a:off x="10831827" y="4927267"/>
            <a:ext cx="736606" cy="736606"/>
          </a:xfrm>
          <a:custGeom>
            <a:avLst/>
            <a:gdLst/>
            <a:ahLst/>
            <a:cxnLst/>
            <a:rect r="r" b="b" t="t" l="l"/>
            <a:pathLst>
              <a:path h="736606" w="736606">
                <a:moveTo>
                  <a:pt x="0" y="0"/>
                </a:moveTo>
                <a:lnTo>
                  <a:pt x="736606" y="0"/>
                </a:lnTo>
                <a:lnTo>
                  <a:pt x="736606" y="736606"/>
                </a:lnTo>
                <a:lnTo>
                  <a:pt x="0" y="73660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9717813"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5" id="25"/>
          <p:cNvSpPr/>
          <p:nvPr/>
        </p:nvSpPr>
        <p:spPr>
          <a:xfrm flipH="false" flipV="false" rot="0">
            <a:off x="6964467" y="2444816"/>
            <a:ext cx="4024953" cy="2144202"/>
          </a:xfrm>
          <a:custGeom>
            <a:avLst/>
            <a:gdLst/>
            <a:ahLst/>
            <a:cxnLst/>
            <a:rect r="r" b="b" t="t" l="l"/>
            <a:pathLst>
              <a:path h="2144202" w="4024953">
                <a:moveTo>
                  <a:pt x="0" y="0"/>
                </a:moveTo>
                <a:lnTo>
                  <a:pt x="4024953" y="0"/>
                </a:lnTo>
                <a:lnTo>
                  <a:pt x="4024953" y="2144203"/>
                </a:lnTo>
                <a:lnTo>
                  <a:pt x="0" y="21442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6" id="26"/>
          <p:cNvSpPr txBox="true"/>
          <p:nvPr/>
        </p:nvSpPr>
        <p:spPr>
          <a:xfrm rot="0">
            <a:off x="7068656" y="3026529"/>
            <a:ext cx="3816576" cy="1018220"/>
          </a:xfrm>
          <a:prstGeom prst="rect">
            <a:avLst/>
          </a:prstGeom>
        </p:spPr>
        <p:txBody>
          <a:bodyPr anchor="t" rtlCol="false" tIns="0" lIns="0" bIns="0" rIns="0">
            <a:spAutoFit/>
          </a:bodyPr>
          <a:lstStyle/>
          <a:p>
            <a:pPr algn="ctr">
              <a:lnSpc>
                <a:spcPts val="3806"/>
              </a:lnSpc>
            </a:pPr>
            <a:r>
              <a:rPr lang="en-US" b="true" sz="4478" spc="-152">
                <a:solidFill>
                  <a:srgbClr val="000000"/>
                </a:solidFill>
                <a:latin typeface="Anonymous Pro Bold"/>
                <a:ea typeface="Anonymous Pro Bold"/>
                <a:cs typeface="Anonymous Pro Bold"/>
                <a:sym typeface="Anonymous Pro Bold"/>
              </a:rPr>
              <a:t>THE FUND</a:t>
            </a:r>
            <a:r>
              <a:rPr lang="en-US" b="true" sz="4478" spc="-152">
                <a:solidFill>
                  <a:srgbClr val="000000"/>
                </a:solidFill>
                <a:latin typeface="Anonymous Pro Bold"/>
                <a:ea typeface="Anonymous Pro Bold"/>
                <a:cs typeface="Anonymous Pro Bold"/>
                <a:sym typeface="Anonymous Pro Bold"/>
              </a:rPr>
              <a:t>EMENTALS</a:t>
            </a:r>
          </a:p>
        </p:txBody>
      </p:sp>
      <p:sp>
        <p:nvSpPr>
          <p:cNvPr name="TextBox 27" id="27"/>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8" id="28"/>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9" id="29"/>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0" id="30"/>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1" id="31"/>
          <p:cNvSpPr txBox="true"/>
          <p:nvPr/>
        </p:nvSpPr>
        <p:spPr>
          <a:xfrm rot="0">
            <a:off x="7047110" y="4914569"/>
            <a:ext cx="3942311" cy="4140908"/>
          </a:xfrm>
          <a:prstGeom prst="rect">
            <a:avLst/>
          </a:prstGeom>
        </p:spPr>
        <p:txBody>
          <a:bodyPr anchor="t" rtlCol="false" tIns="0" lIns="0" bIns="0" rIns="0">
            <a:spAutoFit/>
          </a:bodyPr>
          <a:lstStyle/>
          <a:p>
            <a:pPr algn="l">
              <a:lnSpc>
                <a:spcPts val="2360"/>
              </a:lnSpc>
            </a:pPr>
            <a:r>
              <a:rPr lang="en-US" sz="1888">
                <a:solidFill>
                  <a:srgbClr val="000000"/>
                </a:solidFill>
                <a:latin typeface="Cousine"/>
                <a:ea typeface="Cousine"/>
                <a:cs typeface="Cousine"/>
                <a:sym typeface="Cousine"/>
              </a:rPr>
              <a:t>Here we have the basis of the whole co</a:t>
            </a:r>
            <a:r>
              <a:rPr lang="en-US" sz="1888">
                <a:solidFill>
                  <a:srgbClr val="000000"/>
                </a:solidFill>
                <a:latin typeface="Cousine"/>
                <a:ea typeface="Cousine"/>
                <a:cs typeface="Cousine"/>
                <a:sym typeface="Cousine"/>
              </a:rPr>
              <a:t>de:</a:t>
            </a:r>
          </a:p>
          <a:p>
            <a:pPr algn="l">
              <a:lnSpc>
                <a:spcPts val="2360"/>
              </a:lnSpc>
            </a:pPr>
            <a:r>
              <a:rPr lang="en-US" sz="1888" b="true">
                <a:solidFill>
                  <a:srgbClr val="000000"/>
                </a:solidFill>
                <a:latin typeface="Cousine Bold"/>
                <a:ea typeface="Cousine Bold"/>
                <a:cs typeface="Cousine Bold"/>
                <a:sym typeface="Cousine Bold"/>
              </a:rPr>
              <a:t>On the left</a:t>
            </a:r>
            <a:r>
              <a:rPr lang="en-US" sz="1888">
                <a:solidFill>
                  <a:srgbClr val="000000"/>
                </a:solidFill>
                <a:latin typeface="Cousine"/>
                <a:ea typeface="Cousine"/>
                <a:cs typeface="Cousine"/>
                <a:sym typeface="Cousine"/>
              </a:rPr>
              <a:t> we have the dictionaries we are using to detect the products in Jableh, Latakia and Tartous stores and a dictionary to show the prices</a:t>
            </a:r>
          </a:p>
          <a:p>
            <a:pPr algn="l">
              <a:lnSpc>
                <a:spcPts val="2360"/>
              </a:lnSpc>
            </a:pPr>
            <a:r>
              <a:rPr lang="en-US" sz="1888" b="true">
                <a:solidFill>
                  <a:srgbClr val="000000"/>
                </a:solidFill>
                <a:latin typeface="Cousine Bold"/>
                <a:ea typeface="Cousine Bold"/>
                <a:cs typeface="Cousine Bold"/>
                <a:sym typeface="Cousine Bold"/>
              </a:rPr>
              <a:t>On the right</a:t>
            </a:r>
            <a:r>
              <a:rPr lang="en-US" sz="1888">
                <a:solidFill>
                  <a:srgbClr val="000000"/>
                </a:solidFill>
                <a:latin typeface="Cousine"/>
                <a:ea typeface="Cousine"/>
                <a:cs typeface="Cousine"/>
                <a:sym typeface="Cousine"/>
              </a:rPr>
              <a:t> we have the functions: for changing the time, showing the prices, selecting stores by number and printing a receipt with the time and date</a:t>
            </a:r>
          </a:p>
        </p:txBody>
      </p:sp>
      <p:sp>
        <p:nvSpPr>
          <p:cNvPr name="Freeform 32" id="32"/>
          <p:cNvSpPr/>
          <p:nvPr/>
        </p:nvSpPr>
        <p:spPr>
          <a:xfrm flipH="false" flipV="false" rot="0">
            <a:off x="12881055" y="2461642"/>
            <a:ext cx="3586084" cy="6593834"/>
          </a:xfrm>
          <a:custGeom>
            <a:avLst/>
            <a:gdLst/>
            <a:ahLst/>
            <a:cxnLst/>
            <a:rect r="r" b="b" t="t" l="l"/>
            <a:pathLst>
              <a:path h="6593834" w="3586084">
                <a:moveTo>
                  <a:pt x="0" y="0"/>
                </a:moveTo>
                <a:lnTo>
                  <a:pt x="3586084" y="0"/>
                </a:lnTo>
                <a:lnTo>
                  <a:pt x="3586084" y="6593834"/>
                </a:lnTo>
                <a:lnTo>
                  <a:pt x="0" y="6593834"/>
                </a:lnTo>
                <a:lnTo>
                  <a:pt x="0" y="0"/>
                </a:lnTo>
                <a:close/>
              </a:path>
            </a:pathLst>
          </a:custGeom>
          <a:blipFill>
            <a:blip r:embed="rId12"/>
            <a:stretch>
              <a:fillRect l="0" t="-4886" r="0" b="0"/>
            </a:stretch>
          </a:blipFill>
        </p:spPr>
      </p:sp>
      <p:sp>
        <p:nvSpPr>
          <p:cNvPr name="Freeform 33" id="33"/>
          <p:cNvSpPr/>
          <p:nvPr/>
        </p:nvSpPr>
        <p:spPr>
          <a:xfrm flipH="false" flipV="false" rot="0">
            <a:off x="2287695" y="2601290"/>
            <a:ext cx="1707885" cy="6314537"/>
          </a:xfrm>
          <a:custGeom>
            <a:avLst/>
            <a:gdLst/>
            <a:ahLst/>
            <a:cxnLst/>
            <a:rect r="r" b="b" t="t" l="l"/>
            <a:pathLst>
              <a:path h="6314537" w="1707885">
                <a:moveTo>
                  <a:pt x="0" y="0"/>
                </a:moveTo>
                <a:lnTo>
                  <a:pt x="1707885" y="0"/>
                </a:lnTo>
                <a:lnTo>
                  <a:pt x="1707885" y="6314538"/>
                </a:lnTo>
                <a:lnTo>
                  <a:pt x="0" y="6314538"/>
                </a:lnTo>
                <a:lnTo>
                  <a:pt x="0" y="0"/>
                </a:lnTo>
                <a:close/>
              </a:path>
            </a:pathLst>
          </a:custGeom>
          <a:blipFill>
            <a:blip r:embed="rId13"/>
            <a:stretch>
              <a:fillRect l="0" t="-7566" r="-122015"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1021842"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5305194" y="6185527"/>
            <a:ext cx="8366761" cy="1959298"/>
            <a:chOff x="0" y="0"/>
            <a:chExt cx="11155681" cy="2612398"/>
          </a:xfrm>
        </p:grpSpPr>
        <p:sp>
          <p:nvSpPr>
            <p:cNvPr name="Freeform 26" id="26"/>
            <p:cNvSpPr/>
            <p:nvPr/>
          </p:nvSpPr>
          <p:spPr>
            <a:xfrm flipH="false" flipV="false" rot="0">
              <a:off x="0" y="291109"/>
              <a:ext cx="10728646" cy="2321289"/>
            </a:xfrm>
            <a:custGeom>
              <a:avLst/>
              <a:gdLst/>
              <a:ahLst/>
              <a:cxnLst/>
              <a:rect r="r" b="b" t="t" l="l"/>
              <a:pathLst>
                <a:path h="2321289" w="10728646">
                  <a:moveTo>
                    <a:pt x="0" y="0"/>
                  </a:moveTo>
                  <a:lnTo>
                    <a:pt x="10728646" y="0"/>
                  </a:lnTo>
                  <a:lnTo>
                    <a:pt x="10728646" y="2321289"/>
                  </a:lnTo>
                  <a:lnTo>
                    <a:pt x="0" y="23212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27" id="27"/>
            <p:cNvSpPr txBox="true"/>
            <p:nvPr/>
          </p:nvSpPr>
          <p:spPr>
            <a:xfrm rot="0">
              <a:off x="197425" y="1038325"/>
              <a:ext cx="10333795" cy="1007832"/>
            </a:xfrm>
            <a:prstGeom prst="rect">
              <a:avLst/>
            </a:prstGeom>
          </p:spPr>
          <p:txBody>
            <a:bodyPr anchor="t" rtlCol="false" tIns="0" lIns="0" bIns="0" rIns="0">
              <a:spAutoFit/>
            </a:bodyPr>
            <a:lstStyle/>
            <a:p>
              <a:pPr algn="ctr">
                <a:lnSpc>
                  <a:spcPts val="5028"/>
                </a:lnSpc>
              </a:pPr>
              <a:r>
                <a:rPr lang="en-US" b="true" sz="5916" spc="-201">
                  <a:solidFill>
                    <a:srgbClr val="000000"/>
                  </a:solidFill>
                  <a:latin typeface="Anonymous Pro Bold"/>
                  <a:ea typeface="Anonymous Pro Bold"/>
                  <a:cs typeface="Anonymous Pro Bold"/>
                  <a:sym typeface="Anonymous Pro Bold"/>
                </a:rPr>
                <a:t>THE EMPLOYE</a:t>
              </a:r>
              <a:r>
                <a:rPr lang="en-US" b="true" sz="5916" spc="-201">
                  <a:solidFill>
                    <a:srgbClr val="000000"/>
                  </a:solidFill>
                  <a:latin typeface="Anonymous Pro Bold"/>
                  <a:ea typeface="Anonymous Pro Bold"/>
                  <a:cs typeface="Anonymous Pro Bold"/>
                  <a:sym typeface="Anonymous Pro Bold"/>
                </a:rPr>
                <a:t>E MENU</a:t>
              </a:r>
            </a:p>
          </p:txBody>
        </p:sp>
        <p:sp>
          <p:nvSpPr>
            <p:cNvPr name="Freeform 28" id="28"/>
            <p:cNvSpPr/>
            <p:nvPr/>
          </p:nvSpPr>
          <p:spPr>
            <a:xfrm flipH="false" flipV="false" rot="0">
              <a:off x="10301610" y="0"/>
              <a:ext cx="854071" cy="1454301"/>
            </a:xfrm>
            <a:custGeom>
              <a:avLst/>
              <a:gdLst/>
              <a:ahLst/>
              <a:cxnLst/>
              <a:rect r="r" b="b" t="t" l="l"/>
              <a:pathLst>
                <a:path h="1454301" w="854071">
                  <a:moveTo>
                    <a:pt x="0" y="0"/>
                  </a:moveTo>
                  <a:lnTo>
                    <a:pt x="854071" y="0"/>
                  </a:lnTo>
                  <a:lnTo>
                    <a:pt x="854071" y="1454301"/>
                  </a:lnTo>
                  <a:lnTo>
                    <a:pt x="0" y="14543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29" id="29"/>
          <p:cNvSpPr txBox="true"/>
          <p:nvPr/>
        </p:nvSpPr>
        <p:spPr>
          <a:xfrm rot="0">
            <a:off x="5338403" y="2611440"/>
            <a:ext cx="8223508" cy="3676982"/>
          </a:xfrm>
          <a:prstGeom prst="rect">
            <a:avLst/>
          </a:prstGeom>
        </p:spPr>
        <p:txBody>
          <a:bodyPr anchor="t" rtlCol="false" tIns="0" lIns="0" bIns="0" rIns="0">
            <a:spAutoFit/>
          </a:bodyPr>
          <a:lstStyle/>
          <a:p>
            <a:pPr algn="l">
              <a:lnSpc>
                <a:spcPts val="2928"/>
              </a:lnSpc>
            </a:pPr>
            <a:r>
              <a:rPr lang="en-US" sz="2342" b="true">
                <a:solidFill>
                  <a:srgbClr val="000000"/>
                </a:solidFill>
                <a:latin typeface="Cousine Bold"/>
                <a:ea typeface="Cousine Bold"/>
                <a:cs typeface="Cousine Bold"/>
                <a:sym typeface="Cousine Bold"/>
              </a:rPr>
              <a:t>Multi-Store Inventory Tracking</a:t>
            </a:r>
          </a:p>
          <a:p>
            <a:pPr algn="l">
              <a:lnSpc>
                <a:spcPts val="2928"/>
              </a:lnSpc>
            </a:pPr>
            <a:r>
              <a:rPr lang="en-US" sz="2342">
                <a:solidFill>
                  <a:srgbClr val="000000"/>
                </a:solidFill>
                <a:latin typeface="Cousine"/>
                <a:ea typeface="Cousine"/>
                <a:cs typeface="Cousine"/>
                <a:sym typeface="Cousine"/>
              </a:rPr>
              <a:t>The system ma</a:t>
            </a:r>
            <a:r>
              <a:rPr lang="en-US" sz="2342">
                <a:solidFill>
                  <a:srgbClr val="000000"/>
                </a:solidFill>
                <a:latin typeface="Cousine"/>
                <a:ea typeface="Cousine"/>
                <a:cs typeface="Cousine"/>
                <a:sym typeface="Cousine"/>
              </a:rPr>
              <a:t>nages three stores (Jableh, Tartous, Latakia) with separate availability for each product.</a:t>
            </a:r>
          </a:p>
          <a:p>
            <a:pPr algn="l">
              <a:lnSpc>
                <a:spcPts val="2928"/>
              </a:lnSpc>
            </a:pPr>
            <a:r>
              <a:rPr lang="en-US" sz="2342" b="true">
                <a:solidFill>
                  <a:srgbClr val="000000"/>
                </a:solidFill>
                <a:latin typeface="Cousine Bold"/>
                <a:ea typeface="Cousine Bold"/>
                <a:cs typeface="Cousine Bold"/>
                <a:sym typeface="Cousine Bold"/>
              </a:rPr>
              <a:t>Add / Edit Products</a:t>
            </a:r>
          </a:p>
          <a:p>
            <a:pPr algn="l">
              <a:lnSpc>
                <a:spcPts val="2928"/>
              </a:lnSpc>
            </a:pPr>
            <a:r>
              <a:rPr lang="en-US" sz="2342">
                <a:solidFill>
                  <a:srgbClr val="000000"/>
                </a:solidFill>
                <a:latin typeface="Cousine"/>
                <a:ea typeface="Cousine"/>
                <a:cs typeface="Cousine"/>
                <a:sym typeface="Cousine"/>
              </a:rPr>
              <a:t>Employees can instantly update product quantities and prices for any store.</a:t>
            </a:r>
          </a:p>
          <a:p>
            <a:pPr algn="l">
              <a:lnSpc>
                <a:spcPts val="2928"/>
              </a:lnSpc>
            </a:pPr>
            <a:r>
              <a:rPr lang="en-US" sz="2342" b="true">
                <a:solidFill>
                  <a:srgbClr val="000000"/>
                </a:solidFill>
                <a:latin typeface="Cousine Bold"/>
                <a:ea typeface="Cousine Bold"/>
                <a:cs typeface="Cousine Bold"/>
                <a:sym typeface="Cousine Bold"/>
              </a:rPr>
              <a:t>Delete Products</a:t>
            </a:r>
          </a:p>
          <a:p>
            <a:pPr algn="l">
              <a:lnSpc>
                <a:spcPts val="2928"/>
              </a:lnSpc>
            </a:pPr>
            <a:r>
              <a:rPr lang="en-US" sz="2342">
                <a:solidFill>
                  <a:srgbClr val="000000"/>
                </a:solidFill>
                <a:latin typeface="Cousine"/>
                <a:ea typeface="Cousine"/>
                <a:cs typeface="Cousine"/>
                <a:sym typeface="Cousine"/>
              </a:rPr>
              <a:t>Items can be removed from the store’s inventory with one command.</a:t>
            </a:r>
          </a:p>
        </p:txBody>
      </p:sp>
      <p:sp>
        <p:nvSpPr>
          <p:cNvPr name="TextBox 30" id="30"/>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1" id="31"/>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2" id="32"/>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3" id="33"/>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Freeform 34" id="34"/>
          <p:cNvSpPr/>
          <p:nvPr/>
        </p:nvSpPr>
        <p:spPr>
          <a:xfrm flipH="false" flipV="false" rot="0">
            <a:off x="584087" y="2557416"/>
            <a:ext cx="4092564" cy="6404332"/>
          </a:xfrm>
          <a:custGeom>
            <a:avLst/>
            <a:gdLst/>
            <a:ahLst/>
            <a:cxnLst/>
            <a:rect r="r" b="b" t="t" l="l"/>
            <a:pathLst>
              <a:path h="6404332" w="4092564">
                <a:moveTo>
                  <a:pt x="0" y="0"/>
                </a:moveTo>
                <a:lnTo>
                  <a:pt x="4092565" y="0"/>
                </a:lnTo>
                <a:lnTo>
                  <a:pt x="4092565" y="6404333"/>
                </a:lnTo>
                <a:lnTo>
                  <a:pt x="0" y="6404333"/>
                </a:lnTo>
                <a:lnTo>
                  <a:pt x="0" y="0"/>
                </a:lnTo>
                <a:close/>
              </a:path>
            </a:pathLst>
          </a:custGeom>
          <a:blipFill>
            <a:blip r:embed="rId14"/>
            <a:stretch>
              <a:fillRect l="0" t="0" r="0" b="0"/>
            </a:stretch>
          </a:blipFill>
        </p:spPr>
      </p:sp>
      <p:sp>
        <p:nvSpPr>
          <p:cNvPr name="Freeform 35" id="35"/>
          <p:cNvSpPr/>
          <p:nvPr/>
        </p:nvSpPr>
        <p:spPr>
          <a:xfrm flipH="false" flipV="false" rot="0">
            <a:off x="14185561" y="2471047"/>
            <a:ext cx="2938356" cy="4694129"/>
          </a:xfrm>
          <a:custGeom>
            <a:avLst/>
            <a:gdLst/>
            <a:ahLst/>
            <a:cxnLst/>
            <a:rect r="r" b="b" t="t" l="l"/>
            <a:pathLst>
              <a:path h="4694129" w="2938356">
                <a:moveTo>
                  <a:pt x="0" y="0"/>
                </a:moveTo>
                <a:lnTo>
                  <a:pt x="2938356" y="0"/>
                </a:lnTo>
                <a:lnTo>
                  <a:pt x="2938356" y="4694129"/>
                </a:lnTo>
                <a:lnTo>
                  <a:pt x="0" y="4694129"/>
                </a:lnTo>
                <a:lnTo>
                  <a:pt x="0" y="0"/>
                </a:lnTo>
                <a:close/>
              </a:path>
            </a:pathLst>
          </a:custGeom>
          <a:blipFill>
            <a:blip r:embed="rId15"/>
            <a:stretch>
              <a:fillRect l="0" t="0" r="0" b="0"/>
            </a:stretch>
          </a:blipFill>
          <a:ln cap="sq">
            <a:noFill/>
            <a:prstDash val="solid"/>
            <a:miter/>
          </a:ln>
        </p:spPr>
      </p:sp>
      <p:sp>
        <p:nvSpPr>
          <p:cNvPr name="Freeform 36" id="36"/>
          <p:cNvSpPr/>
          <p:nvPr/>
        </p:nvSpPr>
        <p:spPr>
          <a:xfrm flipH="false" flipV="false" rot="0">
            <a:off x="14300605" y="7183454"/>
            <a:ext cx="2281578" cy="1903691"/>
          </a:xfrm>
          <a:custGeom>
            <a:avLst/>
            <a:gdLst/>
            <a:ahLst/>
            <a:cxnLst/>
            <a:rect r="r" b="b" t="t" l="l"/>
            <a:pathLst>
              <a:path h="1903691" w="2281578">
                <a:moveTo>
                  <a:pt x="0" y="0"/>
                </a:moveTo>
                <a:lnTo>
                  <a:pt x="2281578" y="0"/>
                </a:lnTo>
                <a:lnTo>
                  <a:pt x="2281578" y="1903692"/>
                </a:lnTo>
                <a:lnTo>
                  <a:pt x="0" y="1903692"/>
                </a:lnTo>
                <a:lnTo>
                  <a:pt x="0" y="0"/>
                </a:lnTo>
                <a:close/>
              </a:path>
            </a:pathLst>
          </a:custGeom>
          <a:blipFill>
            <a:blip r:embed="rId16"/>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3653950" y="2382370"/>
            <a:ext cx="2297899" cy="4239322"/>
          </a:xfrm>
          <a:custGeom>
            <a:avLst/>
            <a:gdLst/>
            <a:ahLst/>
            <a:cxnLst/>
            <a:rect r="r" b="b" t="t" l="l"/>
            <a:pathLst>
              <a:path h="4239322" w="2297899">
                <a:moveTo>
                  <a:pt x="0" y="0"/>
                </a:moveTo>
                <a:lnTo>
                  <a:pt x="2297899" y="0"/>
                </a:lnTo>
                <a:lnTo>
                  <a:pt x="2297899" y="4239322"/>
                </a:lnTo>
                <a:lnTo>
                  <a:pt x="0" y="4239322"/>
                </a:lnTo>
                <a:lnTo>
                  <a:pt x="0" y="0"/>
                </a:lnTo>
                <a:close/>
              </a:path>
            </a:pathLst>
          </a:custGeom>
          <a:blipFill>
            <a:blip r:embed="rId2"/>
            <a:stretch>
              <a:fillRect l="0" t="0" r="0" b="0"/>
            </a:stretch>
          </a:blipFill>
          <a:ln cap="sq">
            <a:noFill/>
            <a:prstDash val="solid"/>
            <a:miter/>
          </a:ln>
        </p:spPr>
      </p:sp>
      <p:sp>
        <p:nvSpPr>
          <p:cNvPr name="Freeform 9" id="9"/>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408934" y="9193555"/>
            <a:ext cx="755149" cy="652980"/>
            <a:chOff x="0" y="0"/>
            <a:chExt cx="198887" cy="171978"/>
          </a:xfrm>
        </p:grpSpPr>
        <p:sp>
          <p:nvSpPr>
            <p:cNvPr name="Freeform 13" id="13"/>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4" id="14"/>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7123917" y="9193555"/>
            <a:ext cx="755149" cy="652980"/>
            <a:chOff x="0" y="0"/>
            <a:chExt cx="198887" cy="171978"/>
          </a:xfrm>
        </p:grpSpPr>
        <p:sp>
          <p:nvSpPr>
            <p:cNvPr name="Freeform 16" id="16"/>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7" id="17"/>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0" id="20"/>
          <p:cNvGrpSpPr/>
          <p:nvPr/>
        </p:nvGrpSpPr>
        <p:grpSpPr>
          <a:xfrm rot="0">
            <a:off x="12329752" y="9193555"/>
            <a:ext cx="1271608" cy="652980"/>
            <a:chOff x="0" y="0"/>
            <a:chExt cx="334909" cy="171978"/>
          </a:xfrm>
        </p:grpSpPr>
        <p:sp>
          <p:nvSpPr>
            <p:cNvPr name="Freeform 21" id="21"/>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2" id="22"/>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7255066" y="2496189"/>
            <a:ext cx="3777868" cy="2012573"/>
            <a:chOff x="0" y="0"/>
            <a:chExt cx="5037157" cy="2683431"/>
          </a:xfrm>
        </p:grpSpPr>
        <p:sp>
          <p:nvSpPr>
            <p:cNvPr name="Freeform 24" id="24"/>
            <p:cNvSpPr/>
            <p:nvPr/>
          </p:nvSpPr>
          <p:spPr>
            <a:xfrm flipH="false" flipV="false" rot="0">
              <a:off x="0" y="0"/>
              <a:ext cx="5037157" cy="2683431"/>
            </a:xfrm>
            <a:custGeom>
              <a:avLst/>
              <a:gdLst/>
              <a:ahLst/>
              <a:cxnLst/>
              <a:rect r="r" b="b" t="t" l="l"/>
              <a:pathLst>
                <a:path h="2683431" w="5037157">
                  <a:moveTo>
                    <a:pt x="0" y="0"/>
                  </a:moveTo>
                  <a:lnTo>
                    <a:pt x="5037157" y="0"/>
                  </a:lnTo>
                  <a:lnTo>
                    <a:pt x="5037157" y="2683431"/>
                  </a:lnTo>
                  <a:lnTo>
                    <a:pt x="0" y="26834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5" id="25"/>
            <p:cNvSpPr txBox="true"/>
            <p:nvPr/>
          </p:nvSpPr>
          <p:spPr>
            <a:xfrm rot="0">
              <a:off x="268000" y="625127"/>
              <a:ext cx="4501157" cy="1604626"/>
            </a:xfrm>
            <a:prstGeom prst="rect">
              <a:avLst/>
            </a:prstGeom>
          </p:spPr>
          <p:txBody>
            <a:bodyPr anchor="t" rtlCol="false" tIns="0" lIns="0" bIns="0" rIns="0">
              <a:spAutoFit/>
            </a:bodyPr>
            <a:lstStyle/>
            <a:p>
              <a:pPr algn="ctr">
                <a:lnSpc>
                  <a:spcPts val="4393"/>
                </a:lnSpc>
              </a:pPr>
              <a:r>
                <a:rPr lang="en-US" b="true" sz="5168" spc="-175">
                  <a:solidFill>
                    <a:srgbClr val="000000"/>
                  </a:solidFill>
                  <a:latin typeface="Anonymous Pro Bold"/>
                  <a:ea typeface="Anonymous Pro Bold"/>
                  <a:cs typeface="Anonymous Pro Bold"/>
                  <a:sym typeface="Anonymous Pro Bold"/>
                </a:rPr>
                <a:t>TH</a:t>
              </a:r>
              <a:r>
                <a:rPr lang="en-US" b="true" sz="5168" spc="-175">
                  <a:solidFill>
                    <a:srgbClr val="000000"/>
                  </a:solidFill>
                  <a:latin typeface="Anonymous Pro Bold"/>
                  <a:ea typeface="Anonymous Pro Bold"/>
                  <a:cs typeface="Anonymous Pro Bold"/>
                  <a:sym typeface="Anonymous Pro Bold"/>
                </a:rPr>
                <a:t>E BUYER MENU</a:t>
              </a:r>
            </a:p>
          </p:txBody>
        </p:sp>
      </p:grpSp>
      <p:sp>
        <p:nvSpPr>
          <p:cNvPr name="TextBox 26" id="26"/>
          <p:cNvSpPr txBox="true"/>
          <p:nvPr/>
        </p:nvSpPr>
        <p:spPr>
          <a:xfrm rot="0">
            <a:off x="6294669" y="4638148"/>
            <a:ext cx="5698663" cy="4406973"/>
          </a:xfrm>
          <a:prstGeom prst="rect">
            <a:avLst/>
          </a:prstGeom>
        </p:spPr>
        <p:txBody>
          <a:bodyPr anchor="t" rtlCol="false" tIns="0" lIns="0" bIns="0" rIns="0">
            <a:spAutoFit/>
          </a:bodyPr>
          <a:lstStyle/>
          <a:p>
            <a:pPr algn="ctr">
              <a:lnSpc>
                <a:spcPts val="2485"/>
              </a:lnSpc>
            </a:pPr>
            <a:r>
              <a:rPr lang="en-US" sz="1988" b="true">
                <a:solidFill>
                  <a:srgbClr val="000000"/>
                </a:solidFill>
                <a:latin typeface="Cousine Bold"/>
                <a:ea typeface="Cousine Bold"/>
                <a:cs typeface="Cousine Bold"/>
                <a:sym typeface="Cousine Bold"/>
              </a:rPr>
              <a:t>Live Drink Availability</a:t>
            </a:r>
          </a:p>
          <a:p>
            <a:pPr algn="ctr">
              <a:lnSpc>
                <a:spcPts val="2485"/>
              </a:lnSpc>
            </a:pPr>
            <a:r>
              <a:rPr lang="en-US" sz="1988">
                <a:solidFill>
                  <a:srgbClr val="000000"/>
                </a:solidFill>
                <a:latin typeface="Cousine"/>
                <a:ea typeface="Cousine"/>
                <a:cs typeface="Cousine"/>
                <a:sym typeface="Cousine"/>
              </a:rPr>
              <a:t>Instant access to stock an</a:t>
            </a:r>
            <a:r>
              <a:rPr lang="en-US" sz="1988">
                <a:solidFill>
                  <a:srgbClr val="000000"/>
                </a:solidFill>
                <a:latin typeface="Cousine"/>
                <a:ea typeface="Cousine"/>
                <a:cs typeface="Cousine"/>
                <a:sym typeface="Cousine"/>
              </a:rPr>
              <a:t>d prices for every store.</a:t>
            </a:r>
          </a:p>
          <a:p>
            <a:pPr algn="ctr">
              <a:lnSpc>
                <a:spcPts val="2485"/>
              </a:lnSpc>
            </a:pPr>
            <a:r>
              <a:rPr lang="en-US" sz="1988" b="true">
                <a:solidFill>
                  <a:srgbClr val="000000"/>
                </a:solidFill>
                <a:latin typeface="Cousine Bold"/>
                <a:ea typeface="Cousine Bold"/>
                <a:cs typeface="Cousine Bold"/>
                <a:sym typeface="Cousine Bold"/>
              </a:rPr>
              <a:t>Fast &amp; Simple Ordering</a:t>
            </a:r>
          </a:p>
          <a:p>
            <a:pPr algn="ctr">
              <a:lnSpc>
                <a:spcPts val="2485"/>
              </a:lnSpc>
            </a:pPr>
            <a:r>
              <a:rPr lang="en-US" sz="1988">
                <a:solidFill>
                  <a:srgbClr val="000000"/>
                </a:solidFill>
                <a:latin typeface="Cousine"/>
                <a:ea typeface="Cousine"/>
                <a:cs typeface="Cousine"/>
                <a:sym typeface="Cousine"/>
              </a:rPr>
              <a:t>Choose a drink, set quantity, and get automatic total calculation.</a:t>
            </a:r>
          </a:p>
          <a:p>
            <a:pPr algn="ctr">
              <a:lnSpc>
                <a:spcPts val="2485"/>
              </a:lnSpc>
            </a:pPr>
            <a:r>
              <a:rPr lang="en-US" sz="1988" b="true">
                <a:solidFill>
                  <a:srgbClr val="000000"/>
                </a:solidFill>
                <a:latin typeface="Cousine Bold"/>
                <a:ea typeface="Cousine Bold"/>
                <a:cs typeface="Cousine Bold"/>
                <a:sym typeface="Cousine Bold"/>
              </a:rPr>
              <a:t>Instant Receipts</a:t>
            </a:r>
          </a:p>
          <a:p>
            <a:pPr algn="ctr">
              <a:lnSpc>
                <a:spcPts val="2485"/>
              </a:lnSpc>
            </a:pPr>
            <a:r>
              <a:rPr lang="en-US" sz="1988">
                <a:solidFill>
                  <a:srgbClr val="000000"/>
                </a:solidFill>
                <a:latin typeface="Cousine"/>
                <a:ea typeface="Cousine"/>
                <a:cs typeface="Cousine"/>
                <a:sym typeface="Cousine"/>
              </a:rPr>
              <a:t>Auto-generated with time, date, and full order details.</a:t>
            </a:r>
          </a:p>
          <a:p>
            <a:pPr algn="ctr">
              <a:lnSpc>
                <a:spcPts val="2485"/>
              </a:lnSpc>
            </a:pPr>
            <a:r>
              <a:rPr lang="en-US" sz="1988" b="true">
                <a:solidFill>
                  <a:srgbClr val="000000"/>
                </a:solidFill>
                <a:latin typeface="Cousine Bold"/>
                <a:ea typeface="Cousine Bold"/>
                <a:cs typeface="Cousine Bold"/>
                <a:sym typeface="Cousine Bold"/>
              </a:rPr>
              <a:t>Clean, Modern Interface</a:t>
            </a:r>
          </a:p>
          <a:p>
            <a:pPr algn="ctr">
              <a:lnSpc>
                <a:spcPts val="2485"/>
              </a:lnSpc>
            </a:pPr>
            <a:r>
              <a:rPr lang="en-US" sz="1988">
                <a:solidFill>
                  <a:srgbClr val="000000"/>
                </a:solidFill>
                <a:latin typeface="Cousine"/>
                <a:ea typeface="Cousine"/>
                <a:cs typeface="Cousine"/>
                <a:sym typeface="Cousine"/>
              </a:rPr>
              <a:t>pyfiglet banners and clear menus enhance the user experience.</a:t>
            </a:r>
          </a:p>
          <a:p>
            <a:pPr algn="ctr">
              <a:lnSpc>
                <a:spcPts val="2485"/>
              </a:lnSpc>
            </a:pPr>
            <a:r>
              <a:rPr lang="en-US" sz="1988" b="true">
                <a:solidFill>
                  <a:srgbClr val="000000"/>
                </a:solidFill>
                <a:latin typeface="Cousine Bold"/>
                <a:ea typeface="Cousine Bold"/>
                <a:cs typeface="Cousine Bold"/>
                <a:sym typeface="Cousine Bold"/>
              </a:rPr>
              <a:t>Delivery or Pickup</a:t>
            </a:r>
          </a:p>
          <a:p>
            <a:pPr algn="ctr">
              <a:lnSpc>
                <a:spcPts val="2485"/>
              </a:lnSpc>
            </a:pPr>
            <a:r>
              <a:rPr lang="en-US" sz="1988">
                <a:solidFill>
                  <a:srgbClr val="000000"/>
                </a:solidFill>
                <a:latin typeface="Cousine"/>
                <a:ea typeface="Cousine"/>
                <a:cs typeface="Cousine"/>
                <a:sym typeface="Cousine"/>
              </a:rPr>
              <a:t>Flexible options for every customer.</a:t>
            </a:r>
          </a:p>
        </p:txBody>
      </p:sp>
      <p:sp>
        <p:nvSpPr>
          <p:cNvPr name="TextBox 27" id="27"/>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8" id="28"/>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9" id="29"/>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0" id="30"/>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Freeform 31" id="31"/>
          <p:cNvSpPr/>
          <p:nvPr/>
        </p:nvSpPr>
        <p:spPr>
          <a:xfrm flipH="false" flipV="false" rot="0">
            <a:off x="13714939" y="6631857"/>
            <a:ext cx="2083609" cy="2626443"/>
          </a:xfrm>
          <a:custGeom>
            <a:avLst/>
            <a:gdLst/>
            <a:ahLst/>
            <a:cxnLst/>
            <a:rect r="r" b="b" t="t" l="l"/>
            <a:pathLst>
              <a:path h="2626443" w="2083609">
                <a:moveTo>
                  <a:pt x="0" y="0"/>
                </a:moveTo>
                <a:lnTo>
                  <a:pt x="2083609" y="0"/>
                </a:lnTo>
                <a:lnTo>
                  <a:pt x="2083609" y="2626443"/>
                </a:lnTo>
                <a:lnTo>
                  <a:pt x="0" y="2626443"/>
                </a:lnTo>
                <a:lnTo>
                  <a:pt x="0" y="0"/>
                </a:lnTo>
                <a:close/>
              </a:path>
            </a:pathLst>
          </a:custGeom>
          <a:blipFill>
            <a:blip r:embed="rId13"/>
            <a:stretch>
              <a:fillRect l="0" t="0" r="0" b="0"/>
            </a:stretch>
          </a:blipFill>
          <a:ln cap="sq">
            <a:noFill/>
            <a:prstDash val="solid"/>
            <a:miter/>
          </a:ln>
        </p:spPr>
      </p:sp>
      <p:grpSp>
        <p:nvGrpSpPr>
          <p:cNvPr name="Group 32" id="32"/>
          <p:cNvGrpSpPr/>
          <p:nvPr/>
        </p:nvGrpSpPr>
        <p:grpSpPr>
          <a:xfrm rot="0">
            <a:off x="408934" y="9193555"/>
            <a:ext cx="17470132" cy="652980"/>
            <a:chOff x="0" y="0"/>
            <a:chExt cx="4601187" cy="171978"/>
          </a:xfrm>
        </p:grpSpPr>
        <p:sp>
          <p:nvSpPr>
            <p:cNvPr name="Freeform 33" id="33"/>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34" id="34"/>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35" id="35"/>
          <p:cNvSpPr/>
          <p:nvPr/>
        </p:nvSpPr>
        <p:spPr>
          <a:xfrm flipH="false" flipV="false" rot="0">
            <a:off x="904261" y="2496189"/>
            <a:ext cx="2946465" cy="4101578"/>
          </a:xfrm>
          <a:custGeom>
            <a:avLst/>
            <a:gdLst/>
            <a:ahLst/>
            <a:cxnLst/>
            <a:rect r="r" b="b" t="t" l="l"/>
            <a:pathLst>
              <a:path h="4101578" w="2946465">
                <a:moveTo>
                  <a:pt x="0" y="0"/>
                </a:moveTo>
                <a:lnTo>
                  <a:pt x="2946465" y="0"/>
                </a:lnTo>
                <a:lnTo>
                  <a:pt x="2946465" y="4101579"/>
                </a:lnTo>
                <a:lnTo>
                  <a:pt x="0" y="4101579"/>
                </a:lnTo>
                <a:lnTo>
                  <a:pt x="0" y="0"/>
                </a:lnTo>
                <a:close/>
              </a:path>
            </a:pathLst>
          </a:custGeom>
          <a:blipFill>
            <a:blip r:embed="rId14"/>
            <a:stretch>
              <a:fillRect l="0" t="0" r="0" b="0"/>
            </a:stretch>
          </a:blipFill>
          <a:ln cap="sq">
            <a:noFill/>
            <a:prstDash val="solid"/>
            <a:miter/>
          </a:ln>
        </p:spPr>
      </p:sp>
      <p:sp>
        <p:nvSpPr>
          <p:cNvPr name="Freeform 36" id="36"/>
          <p:cNvSpPr/>
          <p:nvPr/>
        </p:nvSpPr>
        <p:spPr>
          <a:xfrm flipH="false" flipV="false" rot="0">
            <a:off x="904261" y="6597768"/>
            <a:ext cx="2718243" cy="2447353"/>
          </a:xfrm>
          <a:custGeom>
            <a:avLst/>
            <a:gdLst/>
            <a:ahLst/>
            <a:cxnLst/>
            <a:rect r="r" b="b" t="t" l="l"/>
            <a:pathLst>
              <a:path h="2447353" w="2718243">
                <a:moveTo>
                  <a:pt x="0" y="0"/>
                </a:moveTo>
                <a:lnTo>
                  <a:pt x="2718243" y="0"/>
                </a:lnTo>
                <a:lnTo>
                  <a:pt x="2718243" y="2447352"/>
                </a:lnTo>
                <a:lnTo>
                  <a:pt x="0" y="2447352"/>
                </a:lnTo>
                <a:lnTo>
                  <a:pt x="0" y="0"/>
                </a:lnTo>
                <a:close/>
              </a:path>
            </a:pathLst>
          </a:custGeom>
          <a:blipFill>
            <a:blip r:embed="rId15"/>
            <a:stretch>
              <a:fillRect l="0" t="0" r="0" b="0"/>
            </a:stretch>
          </a:blipFill>
        </p:spPr>
      </p:sp>
      <p:grpSp>
        <p:nvGrpSpPr>
          <p:cNvPr name="Group 37" id="37"/>
          <p:cNvGrpSpPr/>
          <p:nvPr/>
        </p:nvGrpSpPr>
        <p:grpSpPr>
          <a:xfrm rot="0">
            <a:off x="408934" y="9193555"/>
            <a:ext cx="755149" cy="652980"/>
            <a:chOff x="0" y="0"/>
            <a:chExt cx="198887" cy="171978"/>
          </a:xfrm>
        </p:grpSpPr>
        <p:sp>
          <p:nvSpPr>
            <p:cNvPr name="Freeform 38" id="3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39" id="3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40" id="40"/>
          <p:cNvGrpSpPr/>
          <p:nvPr/>
        </p:nvGrpSpPr>
        <p:grpSpPr>
          <a:xfrm rot="0">
            <a:off x="17123917" y="9193555"/>
            <a:ext cx="755149" cy="652980"/>
            <a:chOff x="0" y="0"/>
            <a:chExt cx="198887" cy="171978"/>
          </a:xfrm>
        </p:grpSpPr>
        <p:sp>
          <p:nvSpPr>
            <p:cNvPr name="Freeform 41" id="41"/>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42" id="42"/>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43" id="43"/>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4" id="44"/>
          <p:cNvGrpSpPr/>
          <p:nvPr/>
        </p:nvGrpSpPr>
        <p:grpSpPr>
          <a:xfrm rot="0">
            <a:off x="12329752" y="9193555"/>
            <a:ext cx="1271608" cy="652980"/>
            <a:chOff x="0" y="0"/>
            <a:chExt cx="334909" cy="171978"/>
          </a:xfrm>
        </p:grpSpPr>
        <p:sp>
          <p:nvSpPr>
            <p:cNvPr name="Freeform 45" id="45"/>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46" id="46"/>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47" id="47"/>
          <p:cNvSpPr/>
          <p:nvPr/>
        </p:nvSpPr>
        <p:spPr>
          <a:xfrm flipH="false" flipV="false" rot="0">
            <a:off x="1740190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3734433"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3913882" y="3177365"/>
            <a:ext cx="13629059" cy="4293870"/>
          </a:xfrm>
          <a:prstGeom prst="rect">
            <a:avLst/>
          </a:prstGeom>
        </p:spPr>
        <p:txBody>
          <a:bodyPr anchor="t" rtlCol="false" tIns="0" lIns="0" bIns="0" rIns="0">
            <a:spAutoFit/>
          </a:bodyPr>
          <a:lstStyle/>
          <a:p>
            <a:pPr algn="l">
              <a:lnSpc>
                <a:spcPts val="2250"/>
              </a:lnSpc>
            </a:pPr>
            <a:r>
              <a:rPr lang="en-US" sz="1800" b="true">
                <a:solidFill>
                  <a:srgbClr val="000000"/>
                </a:solidFill>
                <a:latin typeface="Cousine Bold"/>
                <a:ea typeface="Cousine Bold"/>
                <a:cs typeface="Cousine Bold"/>
                <a:sym typeface="Cousine Bold"/>
              </a:rPr>
              <a:t>Managing 3 different st</a:t>
            </a:r>
            <a:r>
              <a:rPr lang="en-US" sz="1800" b="true">
                <a:solidFill>
                  <a:srgbClr val="000000"/>
                </a:solidFill>
                <a:latin typeface="Cousine Bold"/>
                <a:ea typeface="Cousine Bold"/>
                <a:cs typeface="Cousine Bold"/>
                <a:sym typeface="Cousine Bold"/>
              </a:rPr>
              <a:t>ores</a:t>
            </a:r>
          </a:p>
          <a:p>
            <a:pPr algn="l">
              <a:lnSpc>
                <a:spcPts val="2250"/>
              </a:lnSpc>
            </a:pPr>
            <a:r>
              <a:rPr lang="en-US" sz="1800">
                <a:solidFill>
                  <a:srgbClr val="000000"/>
                </a:solidFill>
                <a:latin typeface="Cousine"/>
                <a:ea typeface="Cousine"/>
                <a:cs typeface="Cousine"/>
                <a:sym typeface="Cousine"/>
              </a:rPr>
              <a:t> She had to separate each store’s availability while keeping all prices connected </a:t>
            </a:r>
            <a:r>
              <a:rPr lang="en-US" sz="1800">
                <a:solidFill>
                  <a:srgbClr val="000000"/>
                </a:solidFill>
                <a:latin typeface="Cousine"/>
                <a:ea typeface="Cousine"/>
                <a:cs typeface="Cousine"/>
                <a:sym typeface="Cousine"/>
              </a:rPr>
              <a:t>in one place. This required reorganizing dictionaries multiple times.</a:t>
            </a:r>
          </a:p>
          <a:p>
            <a:pPr algn="l">
              <a:lnSpc>
                <a:spcPts val="2250"/>
              </a:lnSpc>
            </a:pPr>
            <a:r>
              <a:rPr lang="en-US" sz="1800" b="true">
                <a:solidFill>
                  <a:srgbClr val="000000"/>
                </a:solidFill>
                <a:latin typeface="Cousine Bold"/>
                <a:ea typeface="Cousine Bold"/>
                <a:cs typeface="Cousine Bold"/>
                <a:sym typeface="Cousine Bold"/>
              </a:rPr>
              <a:t>Creating a clean experience for both employees and buyers</a:t>
            </a:r>
          </a:p>
          <a:p>
            <a:pPr algn="l">
              <a:lnSpc>
                <a:spcPts val="2250"/>
              </a:lnSpc>
            </a:pPr>
            <a:r>
              <a:rPr lang="en-US" sz="1800">
                <a:solidFill>
                  <a:srgbClr val="000000"/>
                </a:solidFill>
                <a:latin typeface="Cousine"/>
                <a:ea typeface="Cousine"/>
                <a:cs typeface="Cousine"/>
                <a:sym typeface="Cousine"/>
              </a:rPr>
              <a:t> Different menus, different functions, and shared data — connecting everything without breaking one side was a major puzzle.</a:t>
            </a:r>
          </a:p>
          <a:p>
            <a:pPr algn="l">
              <a:lnSpc>
                <a:spcPts val="2250"/>
              </a:lnSpc>
            </a:pPr>
            <a:r>
              <a:rPr lang="en-US" sz="1800" b="true">
                <a:solidFill>
                  <a:srgbClr val="000000"/>
                </a:solidFill>
                <a:latin typeface="Cousine Bold"/>
                <a:ea typeface="Cousine Bold"/>
                <a:cs typeface="Cousine Bold"/>
                <a:sym typeface="Cousine Bold"/>
              </a:rPr>
              <a:t>Building the Add / Edit / Delete system</a:t>
            </a:r>
          </a:p>
          <a:p>
            <a:pPr algn="l">
              <a:lnSpc>
                <a:spcPts val="2250"/>
              </a:lnSpc>
            </a:pPr>
            <a:r>
              <a:rPr lang="en-US" sz="1800">
                <a:solidFill>
                  <a:srgbClr val="000000"/>
                </a:solidFill>
                <a:latin typeface="Cousine"/>
                <a:ea typeface="Cousine"/>
                <a:cs typeface="Cousine"/>
                <a:sym typeface="Cousine"/>
              </a:rPr>
              <a:t> Inputs, validation, updating stock, syncing prices… one wrong line and everything crashed. She fixed it step by step until each feature worked smoothly.</a:t>
            </a:r>
          </a:p>
          <a:p>
            <a:pPr algn="l">
              <a:lnSpc>
                <a:spcPts val="2250"/>
              </a:lnSpc>
            </a:pPr>
            <a:r>
              <a:rPr lang="en-US" sz="1800" b="true">
                <a:solidFill>
                  <a:srgbClr val="000000"/>
                </a:solidFill>
                <a:latin typeface="Cousine Bold"/>
                <a:ea typeface="Cousine Bold"/>
                <a:cs typeface="Cousine Bold"/>
                <a:sym typeface="Cousine Bold"/>
              </a:rPr>
              <a:t>Handling orders and stock changes correctly</a:t>
            </a:r>
          </a:p>
          <a:p>
            <a:pPr algn="l">
              <a:lnSpc>
                <a:spcPts val="2250"/>
              </a:lnSpc>
            </a:pPr>
            <a:r>
              <a:rPr lang="en-US" sz="1800">
                <a:solidFill>
                  <a:srgbClr val="000000"/>
                </a:solidFill>
                <a:latin typeface="Cousine"/>
                <a:ea typeface="Cousine"/>
                <a:cs typeface="Cousine"/>
                <a:sym typeface="Cousine"/>
              </a:rPr>
              <a:t> Making sure availability updated right, preventing negative stock, and linking prices with quantities took careful logic.</a:t>
            </a:r>
          </a:p>
          <a:p>
            <a:pPr algn="l">
              <a:lnSpc>
                <a:spcPts val="2250"/>
              </a:lnSpc>
            </a:pPr>
            <a:r>
              <a:rPr lang="en-US" sz="1800" b="true">
                <a:solidFill>
                  <a:srgbClr val="000000"/>
                </a:solidFill>
                <a:latin typeface="Cousine Bold"/>
                <a:ea typeface="Cousine Bold"/>
                <a:cs typeface="Cousine Bold"/>
                <a:sym typeface="Cousine Bold"/>
              </a:rPr>
              <a:t>Designing the receipt system</a:t>
            </a:r>
          </a:p>
          <a:p>
            <a:pPr algn="l">
              <a:lnSpc>
                <a:spcPts val="2250"/>
              </a:lnSpc>
            </a:pPr>
            <a:r>
              <a:rPr lang="en-US" sz="1800">
                <a:solidFill>
                  <a:srgbClr val="000000"/>
                </a:solidFill>
                <a:latin typeface="Cousine"/>
                <a:ea typeface="Cousine"/>
                <a:cs typeface="Cousine"/>
                <a:sym typeface="Cousine"/>
              </a:rPr>
              <a:t> Centering text, formatting details, handling delivery vs pickup, and applying GMT+3 correctly all needed multiple fixes.</a:t>
            </a:r>
          </a:p>
        </p:txBody>
      </p:sp>
      <p:sp>
        <p:nvSpPr>
          <p:cNvPr name="TextBox 26" id="26"/>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7" id="27"/>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8" id="28"/>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29" id="29"/>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0" id="30"/>
          <p:cNvSpPr txBox="true"/>
          <p:nvPr/>
        </p:nvSpPr>
        <p:spPr>
          <a:xfrm rot="0">
            <a:off x="584087" y="2588559"/>
            <a:ext cx="3164752" cy="33235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She started building DrinksLaunch with a simple idea:</a:t>
            </a:r>
          </a:p>
          <a:p>
            <a:pPr algn="ctr">
              <a:lnSpc>
                <a:spcPts val="2659"/>
              </a:lnSpc>
              <a:spcBef>
                <a:spcPct val="0"/>
              </a:spcBef>
            </a:pPr>
            <a:r>
              <a:rPr lang="en-US" sz="1899">
                <a:solidFill>
                  <a:srgbClr val="000000"/>
                </a:solidFill>
                <a:latin typeface="Canva Sans"/>
                <a:ea typeface="Canva Sans"/>
                <a:cs typeface="Canva Sans"/>
                <a:sym typeface="Canva Sans"/>
              </a:rPr>
              <a:t> one system that could manage many stores, help employees work faster, and make ordering easier for buyers.</a:t>
            </a:r>
          </a:p>
          <a:p>
            <a:pPr algn="ctr">
              <a:lnSpc>
                <a:spcPts val="2659"/>
              </a:lnSpc>
              <a:spcBef>
                <a:spcPct val="0"/>
              </a:spcBef>
            </a:pPr>
            <a:r>
              <a:rPr lang="en-US" sz="1899">
                <a:solidFill>
                  <a:srgbClr val="000000"/>
                </a:solidFill>
                <a:latin typeface="Canva Sans"/>
                <a:ea typeface="Canva Sans"/>
                <a:cs typeface="Canva Sans"/>
                <a:sym typeface="Canva Sans"/>
              </a:rPr>
              <a:t> But making all of this run smoothly wasn’t simple…</a:t>
            </a:r>
          </a:p>
        </p:txBody>
      </p:sp>
      <p:sp>
        <p:nvSpPr>
          <p:cNvPr name="TextBox 31" id="31"/>
          <p:cNvSpPr txBox="true"/>
          <p:nvPr/>
        </p:nvSpPr>
        <p:spPr>
          <a:xfrm rot="0">
            <a:off x="3547232" y="2596481"/>
            <a:ext cx="5596768" cy="609459"/>
          </a:xfrm>
          <a:prstGeom prst="rect">
            <a:avLst/>
          </a:prstGeom>
        </p:spPr>
        <p:txBody>
          <a:bodyPr anchor="t" rtlCol="false" tIns="0" lIns="0" bIns="0" rIns="0">
            <a:spAutoFit/>
          </a:bodyPr>
          <a:lstStyle/>
          <a:p>
            <a:pPr algn="ctr">
              <a:lnSpc>
                <a:spcPts val="4393"/>
              </a:lnSpc>
            </a:pPr>
            <a:r>
              <a:rPr lang="en-US" b="true" sz="5168" spc="-175">
                <a:solidFill>
                  <a:srgbClr val="000000"/>
                </a:solidFill>
                <a:latin typeface="Anonymous Pro Bold"/>
                <a:ea typeface="Anonymous Pro Bold"/>
                <a:cs typeface="Anonymous Pro Bold"/>
                <a:sym typeface="Anonymous Pro Bold"/>
              </a:rPr>
              <a:t>K</a:t>
            </a:r>
            <a:r>
              <a:rPr lang="en-US" b="true" sz="5168" spc="-175">
                <a:solidFill>
                  <a:srgbClr val="000000"/>
                </a:solidFill>
                <a:latin typeface="Anonymous Pro Bold"/>
                <a:ea typeface="Anonymous Pro Bold"/>
                <a:cs typeface="Anonymous Pro Bold"/>
                <a:sym typeface="Anonymous Pro Bold"/>
              </a:rPr>
              <a:t>EY CHALLENGES</a:t>
            </a:r>
          </a:p>
        </p:txBody>
      </p:sp>
      <p:sp>
        <p:nvSpPr>
          <p:cNvPr name="TextBox 32" id="32"/>
          <p:cNvSpPr txBox="true"/>
          <p:nvPr/>
        </p:nvSpPr>
        <p:spPr>
          <a:xfrm rot="0">
            <a:off x="3872433" y="7728410"/>
            <a:ext cx="13629059" cy="1150620"/>
          </a:xfrm>
          <a:prstGeom prst="rect">
            <a:avLst/>
          </a:prstGeom>
        </p:spPr>
        <p:txBody>
          <a:bodyPr anchor="t" rtlCol="false" tIns="0" lIns="0" bIns="0" rIns="0">
            <a:spAutoFit/>
          </a:bodyPr>
          <a:lstStyle/>
          <a:p>
            <a:pPr algn="l">
              <a:lnSpc>
                <a:spcPts val="2250"/>
              </a:lnSpc>
            </a:pPr>
            <a:r>
              <a:rPr lang="en-US" sz="1800">
                <a:solidFill>
                  <a:srgbClr val="000000"/>
                </a:solidFill>
                <a:latin typeface="Cousine"/>
                <a:ea typeface="Cousine"/>
                <a:cs typeface="Cousine"/>
                <a:sym typeface="Cousine"/>
              </a:rPr>
              <a:t>With every bug she s</a:t>
            </a:r>
            <a:r>
              <a:rPr lang="en-US" sz="1800">
                <a:solidFill>
                  <a:srgbClr val="000000"/>
                </a:solidFill>
                <a:latin typeface="Cousine"/>
                <a:ea typeface="Cousine"/>
                <a:cs typeface="Cousine"/>
                <a:sym typeface="Cousine"/>
              </a:rPr>
              <a:t>olved, she rewrote functions to be cleaner, reused logic instead of repeating code, and organized everything into small, stable parts.</a:t>
            </a:r>
          </a:p>
          <a:p>
            <a:pPr algn="l">
              <a:lnSpc>
                <a:spcPts val="2250"/>
              </a:lnSpc>
            </a:pPr>
            <a:r>
              <a:rPr lang="en-US" sz="1800">
                <a:solidFill>
                  <a:srgbClr val="000000"/>
                </a:solidFill>
                <a:latin typeface="Cousine"/>
                <a:ea typeface="Cousine"/>
                <a:cs typeface="Cousine"/>
                <a:sym typeface="Cousine"/>
              </a:rPr>
              <a:t>Bit by bit, the system became faster, clearer, and more professional — turning her idea into a real working program.</a:t>
            </a:r>
          </a:p>
        </p:txBody>
      </p:sp>
      <p:sp>
        <p:nvSpPr>
          <p:cNvPr name="TextBox 33" id="33"/>
          <p:cNvSpPr txBox="true"/>
          <p:nvPr/>
        </p:nvSpPr>
        <p:spPr>
          <a:xfrm rot="0">
            <a:off x="539425" y="7561560"/>
            <a:ext cx="3209415" cy="1541036"/>
          </a:xfrm>
          <a:prstGeom prst="rect">
            <a:avLst/>
          </a:prstGeom>
        </p:spPr>
        <p:txBody>
          <a:bodyPr anchor="t" rtlCol="false" tIns="0" lIns="0" bIns="0" rIns="0">
            <a:spAutoFit/>
          </a:bodyPr>
          <a:lstStyle/>
          <a:p>
            <a:pPr algn="ctr">
              <a:lnSpc>
                <a:spcPts val="3968"/>
              </a:lnSpc>
            </a:pPr>
            <a:r>
              <a:rPr lang="en-US" b="true" sz="4668" spc="-158">
                <a:solidFill>
                  <a:srgbClr val="000000"/>
                </a:solidFill>
                <a:latin typeface="Anonymous Pro Bold"/>
                <a:ea typeface="Anonymous Pro Bold"/>
                <a:cs typeface="Anonymous Pro Bold"/>
                <a:sym typeface="Anonymous Pro Bold"/>
              </a:rPr>
              <a:t>HOW SH</a:t>
            </a:r>
            <a:r>
              <a:rPr lang="en-US" b="true" sz="4668" spc="-158">
                <a:solidFill>
                  <a:srgbClr val="000000"/>
                </a:solidFill>
                <a:latin typeface="Anonymous Pro Bold"/>
                <a:ea typeface="Anonymous Pro Bold"/>
                <a:cs typeface="Anonymous Pro Bold"/>
                <a:sym typeface="Anonymous Pro Bold"/>
              </a:rPr>
              <a:t>E OVERCAME THEM?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4657192"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6504522" y="4688716"/>
            <a:ext cx="5278957" cy="1454367"/>
            <a:chOff x="0" y="0"/>
            <a:chExt cx="7038609" cy="1939156"/>
          </a:xfrm>
        </p:grpSpPr>
        <p:sp>
          <p:nvSpPr>
            <p:cNvPr name="Freeform 26" id="26"/>
            <p:cNvSpPr/>
            <p:nvPr/>
          </p:nvSpPr>
          <p:spPr>
            <a:xfrm flipH="false" flipV="false" rot="0">
              <a:off x="21928" y="0"/>
              <a:ext cx="7016681" cy="1939156"/>
            </a:xfrm>
            <a:custGeom>
              <a:avLst/>
              <a:gdLst/>
              <a:ahLst/>
              <a:cxnLst/>
              <a:rect r="r" b="b" t="t" l="l"/>
              <a:pathLst>
                <a:path h="1939156" w="7016681">
                  <a:moveTo>
                    <a:pt x="0" y="0"/>
                  </a:moveTo>
                  <a:lnTo>
                    <a:pt x="7016681" y="0"/>
                  </a:lnTo>
                  <a:lnTo>
                    <a:pt x="7016681" y="1939156"/>
                  </a:lnTo>
                  <a:lnTo>
                    <a:pt x="0" y="193915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27" id="27"/>
            <p:cNvSpPr txBox="true"/>
            <p:nvPr/>
          </p:nvSpPr>
          <p:spPr>
            <a:xfrm rot="0">
              <a:off x="0" y="430687"/>
              <a:ext cx="7038609" cy="1192082"/>
            </a:xfrm>
            <a:prstGeom prst="rect">
              <a:avLst/>
            </a:prstGeom>
          </p:spPr>
          <p:txBody>
            <a:bodyPr anchor="t" rtlCol="false" tIns="0" lIns="0" bIns="0" rIns="0">
              <a:spAutoFit/>
            </a:bodyPr>
            <a:lstStyle/>
            <a:p>
              <a:pPr algn="ctr">
                <a:lnSpc>
                  <a:spcPts val="3241"/>
                </a:lnSpc>
              </a:pPr>
              <a:r>
                <a:rPr lang="en-US" b="true" sz="3812" spc="-129">
                  <a:solidFill>
                    <a:srgbClr val="000000"/>
                  </a:solidFill>
                  <a:latin typeface="Anonymous Pro Bold"/>
                  <a:ea typeface="Anonymous Pro Bold"/>
                  <a:cs typeface="Anonymous Pro Bold"/>
                  <a:sym typeface="Anonymous Pro Bold"/>
                </a:rPr>
                <a:t>ADDED</a:t>
              </a:r>
              <a:r>
                <a:rPr lang="en-US" b="true" sz="3812" spc="-129">
                  <a:solidFill>
                    <a:srgbClr val="000000"/>
                  </a:solidFill>
                  <a:latin typeface="Anonymous Pro Bold"/>
                  <a:ea typeface="Anonymous Pro Bold"/>
                  <a:cs typeface="Anonymous Pro Bold"/>
                  <a:sym typeface="Anonymous Pro Bold"/>
                </a:rPr>
                <a:t> VALUE &amp; INNOVATION</a:t>
              </a:r>
            </a:p>
          </p:txBody>
        </p:sp>
      </p:grpSp>
      <p:sp>
        <p:nvSpPr>
          <p:cNvPr name="TextBox 28" id="28"/>
          <p:cNvSpPr txBox="true"/>
          <p:nvPr/>
        </p:nvSpPr>
        <p:spPr>
          <a:xfrm rot="0">
            <a:off x="1028700" y="2693857"/>
            <a:ext cx="7728337" cy="1737684"/>
          </a:xfrm>
          <a:prstGeom prst="rect">
            <a:avLst/>
          </a:prstGeom>
        </p:spPr>
        <p:txBody>
          <a:bodyPr anchor="t" rtlCol="false" tIns="0" lIns="0" bIns="0" rIns="0">
            <a:spAutoFit/>
          </a:bodyPr>
          <a:lstStyle/>
          <a:p>
            <a:pPr algn="just">
              <a:lnSpc>
                <a:spcPts val="3186"/>
              </a:lnSpc>
            </a:pPr>
            <a:r>
              <a:rPr lang="en-US" sz="2548" b="true">
                <a:solidFill>
                  <a:srgbClr val="000000"/>
                </a:solidFill>
                <a:latin typeface="Cousine Bold"/>
                <a:ea typeface="Cousine Bold"/>
                <a:cs typeface="Cousine Bold"/>
                <a:sym typeface="Cousine Bold"/>
              </a:rPr>
              <a:t>Added Value</a:t>
            </a:r>
          </a:p>
          <a:p>
            <a:pPr algn="just">
              <a:lnSpc>
                <a:spcPts val="2686"/>
              </a:lnSpc>
            </a:pPr>
            <a:r>
              <a:rPr lang="en-US" sz="2148">
                <a:solidFill>
                  <a:srgbClr val="000000"/>
                </a:solidFill>
                <a:latin typeface="Cousine"/>
                <a:ea typeface="Cousine"/>
                <a:cs typeface="Cousine"/>
                <a:sym typeface="Cousine"/>
              </a:rPr>
              <a:t>Centra</a:t>
            </a:r>
            <a:r>
              <a:rPr lang="en-US" sz="2148">
                <a:solidFill>
                  <a:srgbClr val="000000"/>
                </a:solidFill>
                <a:latin typeface="Cousine"/>
                <a:ea typeface="Cousine"/>
                <a:cs typeface="Cousine"/>
                <a:sym typeface="Cousine"/>
              </a:rPr>
              <a:t>l system for all three stores</a:t>
            </a:r>
          </a:p>
          <a:p>
            <a:pPr algn="just">
              <a:lnSpc>
                <a:spcPts val="2686"/>
              </a:lnSpc>
            </a:pPr>
            <a:r>
              <a:rPr lang="en-US" sz="2148">
                <a:solidFill>
                  <a:srgbClr val="000000"/>
                </a:solidFill>
                <a:latin typeface="Cousine"/>
                <a:ea typeface="Cousine"/>
                <a:cs typeface="Cousine"/>
                <a:sym typeface="Cousine"/>
              </a:rPr>
              <a:t>Real-time stock updates after every order</a:t>
            </a:r>
          </a:p>
          <a:p>
            <a:pPr algn="just">
              <a:lnSpc>
                <a:spcPts val="2686"/>
              </a:lnSpc>
            </a:pPr>
            <a:r>
              <a:rPr lang="en-US" sz="2148">
                <a:solidFill>
                  <a:srgbClr val="000000"/>
                </a:solidFill>
                <a:latin typeface="Cousine"/>
                <a:ea typeface="Cousine"/>
                <a:cs typeface="Cousine"/>
                <a:sym typeface="Cousine"/>
              </a:rPr>
              <a:t>Fast employee tools (add/edit/delete products)</a:t>
            </a:r>
          </a:p>
          <a:p>
            <a:pPr algn="just">
              <a:lnSpc>
                <a:spcPts val="2686"/>
              </a:lnSpc>
            </a:pPr>
            <a:r>
              <a:rPr lang="en-US" sz="2148">
                <a:solidFill>
                  <a:srgbClr val="000000"/>
                </a:solidFill>
                <a:latin typeface="Cousine"/>
                <a:ea typeface="Cousine"/>
                <a:cs typeface="Cousine"/>
                <a:sym typeface="Cousine"/>
              </a:rPr>
              <a:t>Automatic, clean, time-stamped receipts</a:t>
            </a:r>
          </a:p>
        </p:txBody>
      </p:sp>
      <p:sp>
        <p:nvSpPr>
          <p:cNvPr name="TextBox 29" id="29"/>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30" id="30"/>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31" id="31"/>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32" id="32"/>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sp>
        <p:nvSpPr>
          <p:cNvPr name="TextBox 33" id="33"/>
          <p:cNvSpPr txBox="true"/>
          <p:nvPr/>
        </p:nvSpPr>
        <p:spPr>
          <a:xfrm rot="0">
            <a:off x="8103035" y="6494359"/>
            <a:ext cx="9571684" cy="2328869"/>
          </a:xfrm>
          <a:prstGeom prst="rect">
            <a:avLst/>
          </a:prstGeom>
        </p:spPr>
        <p:txBody>
          <a:bodyPr anchor="t" rtlCol="false" tIns="0" lIns="0" bIns="0" rIns="0">
            <a:spAutoFit/>
          </a:bodyPr>
          <a:lstStyle/>
          <a:p>
            <a:pPr algn="l">
              <a:lnSpc>
                <a:spcPts val="3061"/>
              </a:lnSpc>
            </a:pPr>
            <a:r>
              <a:rPr lang="en-US" sz="2448" b="true">
                <a:solidFill>
                  <a:srgbClr val="000000"/>
                </a:solidFill>
                <a:latin typeface="Cousine Bold"/>
                <a:ea typeface="Cousine Bold"/>
                <a:cs typeface="Cousine Bold"/>
                <a:sym typeface="Cousine Bold"/>
              </a:rPr>
              <a:t>Innovation</a:t>
            </a:r>
          </a:p>
          <a:p>
            <a:pPr algn="l">
              <a:lnSpc>
                <a:spcPts val="2561"/>
              </a:lnSpc>
            </a:pPr>
            <a:r>
              <a:rPr lang="en-US" sz="2048">
                <a:solidFill>
                  <a:srgbClr val="000000"/>
                </a:solidFill>
                <a:latin typeface="Cousine"/>
                <a:ea typeface="Cousine"/>
                <a:cs typeface="Cousine"/>
                <a:sym typeface="Cousine"/>
              </a:rPr>
              <a:t>Multi-branch management using simple, efficient Python structures</a:t>
            </a:r>
          </a:p>
          <a:p>
            <a:pPr algn="l">
              <a:lnSpc>
                <a:spcPts val="2561"/>
              </a:lnSpc>
            </a:pPr>
            <a:r>
              <a:rPr lang="en-US" sz="2048">
                <a:solidFill>
                  <a:srgbClr val="000000"/>
                </a:solidFill>
                <a:latin typeface="Cousine"/>
                <a:ea typeface="Cousine"/>
                <a:cs typeface="Cousine"/>
                <a:sym typeface="Cousine"/>
              </a:rPr>
              <a:t>Dual-mode design for employees and buyers in one program</a:t>
            </a:r>
          </a:p>
          <a:p>
            <a:pPr algn="l">
              <a:lnSpc>
                <a:spcPts val="2561"/>
              </a:lnSpc>
            </a:pPr>
            <a:r>
              <a:rPr lang="en-US" sz="2048">
                <a:solidFill>
                  <a:srgbClr val="000000"/>
                </a:solidFill>
                <a:latin typeface="Cousine"/>
                <a:ea typeface="Cousine"/>
                <a:cs typeface="Cousine"/>
                <a:sym typeface="Cousine"/>
              </a:rPr>
              <a:t>Fully automated ordering workflow from selection to receipt</a:t>
            </a:r>
          </a:p>
          <a:p>
            <a:pPr algn="l">
              <a:lnSpc>
                <a:spcPts val="2561"/>
              </a:lnSpc>
            </a:pPr>
            <a:r>
              <a:rPr lang="en-US" sz="2048">
                <a:solidFill>
                  <a:srgbClr val="000000"/>
                </a:solidFill>
                <a:latin typeface="Cousine"/>
                <a:ea typeface="Cousine"/>
                <a:cs typeface="Cousine"/>
                <a:sym typeface="Cousine"/>
              </a:rPr>
              <a:t>Professional touch with GMT+3 timestamps and styled pyfiglet interface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5081231"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6" id="26"/>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7" id="27"/>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28" id="28"/>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29" id="29"/>
          <p:cNvGrpSpPr/>
          <p:nvPr/>
        </p:nvGrpSpPr>
        <p:grpSpPr>
          <a:xfrm rot="0">
            <a:off x="5602629" y="4238618"/>
            <a:ext cx="7082742" cy="2241706"/>
            <a:chOff x="0" y="0"/>
            <a:chExt cx="9443656" cy="2988941"/>
          </a:xfrm>
        </p:grpSpPr>
        <p:sp>
          <p:nvSpPr>
            <p:cNvPr name="Freeform 30" id="30"/>
            <p:cNvSpPr/>
            <p:nvPr/>
          </p:nvSpPr>
          <p:spPr>
            <a:xfrm flipH="false" flipV="false" rot="0">
              <a:off x="28135" y="0"/>
              <a:ext cx="9002998" cy="2488101"/>
            </a:xfrm>
            <a:custGeom>
              <a:avLst/>
              <a:gdLst/>
              <a:ahLst/>
              <a:cxnLst/>
              <a:rect r="r" b="b" t="t" l="l"/>
              <a:pathLst>
                <a:path h="2488101" w="9002998">
                  <a:moveTo>
                    <a:pt x="0" y="0"/>
                  </a:moveTo>
                  <a:lnTo>
                    <a:pt x="9002998" y="0"/>
                  </a:lnTo>
                  <a:lnTo>
                    <a:pt x="9002998" y="2488101"/>
                  </a:lnTo>
                  <a:lnTo>
                    <a:pt x="0" y="24881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31" id="31"/>
            <p:cNvSpPr txBox="true"/>
            <p:nvPr/>
          </p:nvSpPr>
          <p:spPr>
            <a:xfrm rot="0">
              <a:off x="0" y="558351"/>
              <a:ext cx="9031133" cy="1534553"/>
            </a:xfrm>
            <a:prstGeom prst="rect">
              <a:avLst/>
            </a:prstGeom>
          </p:spPr>
          <p:txBody>
            <a:bodyPr anchor="t" rtlCol="false" tIns="0" lIns="0" bIns="0" rIns="0">
              <a:spAutoFit/>
            </a:bodyPr>
            <a:lstStyle/>
            <a:p>
              <a:pPr algn="ctr">
                <a:lnSpc>
                  <a:spcPts val="4158"/>
                </a:lnSpc>
              </a:pPr>
              <a:r>
                <a:rPr lang="en-US" b="true" sz="4892" spc="-166">
                  <a:solidFill>
                    <a:srgbClr val="000000"/>
                  </a:solidFill>
                  <a:latin typeface="Anonymous Pro Bold"/>
                  <a:ea typeface="Anonymous Pro Bold"/>
                  <a:cs typeface="Anonymous Pro Bold"/>
                  <a:sym typeface="Anonymous Pro Bold"/>
                </a:rPr>
                <a:t>LIVE</a:t>
              </a:r>
              <a:r>
                <a:rPr lang="en-US" b="true" sz="4892" spc="-166">
                  <a:solidFill>
                    <a:srgbClr val="000000"/>
                  </a:solidFill>
                  <a:latin typeface="Anonymous Pro Bold"/>
                  <a:ea typeface="Anonymous Pro Bold"/>
                  <a:cs typeface="Anonymous Pro Bold"/>
                  <a:sym typeface="Anonymous Pro Bold"/>
                </a:rPr>
                <a:t> DEMONSTRATION PLAN</a:t>
              </a:r>
            </a:p>
          </p:txBody>
        </p:sp>
        <p:sp>
          <p:nvSpPr>
            <p:cNvPr name="Freeform 32" id="32"/>
            <p:cNvSpPr/>
            <p:nvPr/>
          </p:nvSpPr>
          <p:spPr>
            <a:xfrm flipH="false" flipV="false" rot="0">
              <a:off x="7810980" y="1403761"/>
              <a:ext cx="1632676" cy="1585180"/>
            </a:xfrm>
            <a:custGeom>
              <a:avLst/>
              <a:gdLst/>
              <a:ahLst/>
              <a:cxnLst/>
              <a:rect r="r" b="b" t="t" l="l"/>
              <a:pathLst>
                <a:path h="1585180" w="1632676">
                  <a:moveTo>
                    <a:pt x="0" y="0"/>
                  </a:moveTo>
                  <a:lnTo>
                    <a:pt x="1632676" y="0"/>
                  </a:lnTo>
                  <a:lnTo>
                    <a:pt x="1632676" y="1585180"/>
                  </a:lnTo>
                  <a:lnTo>
                    <a:pt x="0" y="158518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33" id="33"/>
          <p:cNvSpPr txBox="true"/>
          <p:nvPr/>
        </p:nvSpPr>
        <p:spPr>
          <a:xfrm rot="0">
            <a:off x="2546787" y="2413557"/>
            <a:ext cx="3917976" cy="1666240"/>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Cousine Bold"/>
                <a:ea typeface="Cousine Bold"/>
                <a:cs typeface="Cousine Bold"/>
                <a:sym typeface="Cousine Bold"/>
              </a:rPr>
              <a:t>Start &amp; Welcome Screen</a:t>
            </a:r>
          </a:p>
          <a:p>
            <a:pPr algn="ctr">
              <a:lnSpc>
                <a:spcPts val="2659"/>
              </a:lnSpc>
              <a:spcBef>
                <a:spcPct val="0"/>
              </a:spcBef>
            </a:pPr>
            <a:r>
              <a:rPr lang="en-US" sz="1899">
                <a:solidFill>
                  <a:srgbClr val="000000"/>
                </a:solidFill>
                <a:latin typeface="Cousine"/>
                <a:ea typeface="Cousine"/>
                <a:cs typeface="Cousine"/>
                <a:sym typeface="Cousine"/>
              </a:rPr>
              <a:t>Show the pyfiglet welcome banner</a:t>
            </a:r>
          </a:p>
          <a:p>
            <a:pPr algn="ctr">
              <a:lnSpc>
                <a:spcPts val="2659"/>
              </a:lnSpc>
              <a:spcBef>
                <a:spcPct val="0"/>
              </a:spcBef>
            </a:pPr>
            <a:r>
              <a:rPr lang="en-US" sz="1899">
                <a:solidFill>
                  <a:srgbClr val="000000"/>
                </a:solidFill>
                <a:latin typeface="Cousine"/>
                <a:ea typeface="Cousine"/>
                <a:cs typeface="Cousine"/>
                <a:sym typeface="Cousine"/>
              </a:rPr>
              <a:t>Briefly explain the main menu (Employee / Buyer)</a:t>
            </a:r>
          </a:p>
        </p:txBody>
      </p:sp>
      <p:sp>
        <p:nvSpPr>
          <p:cNvPr name="TextBox 34" id="34"/>
          <p:cNvSpPr txBox="true"/>
          <p:nvPr/>
        </p:nvSpPr>
        <p:spPr>
          <a:xfrm rot="0">
            <a:off x="1503678" y="5074045"/>
            <a:ext cx="3917976" cy="2332990"/>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Cousine Bold"/>
                <a:ea typeface="Cousine Bold"/>
                <a:cs typeface="Cousine Bold"/>
                <a:sym typeface="Cousine Bold"/>
              </a:rPr>
              <a:t>Emp</a:t>
            </a:r>
            <a:r>
              <a:rPr lang="en-US" b="true" sz="1899">
                <a:solidFill>
                  <a:srgbClr val="000000"/>
                </a:solidFill>
                <a:latin typeface="Cousine Bold"/>
                <a:ea typeface="Cousine Bold"/>
                <a:cs typeface="Cousine Bold"/>
                <a:sym typeface="Cousine Bold"/>
              </a:rPr>
              <a:t>loyee Demo</a:t>
            </a:r>
          </a:p>
          <a:p>
            <a:pPr algn="ctr">
              <a:lnSpc>
                <a:spcPts val="2659"/>
              </a:lnSpc>
              <a:spcBef>
                <a:spcPct val="0"/>
              </a:spcBef>
            </a:pPr>
            <a:r>
              <a:rPr lang="en-US" sz="1899">
                <a:solidFill>
                  <a:srgbClr val="000000"/>
                </a:solidFill>
                <a:latin typeface="Cousine"/>
                <a:ea typeface="Cousine"/>
                <a:cs typeface="Cousine"/>
                <a:sym typeface="Cousine"/>
              </a:rPr>
              <a:t>Enter the correct password</a:t>
            </a:r>
          </a:p>
          <a:p>
            <a:pPr algn="ctr">
              <a:lnSpc>
                <a:spcPts val="2659"/>
              </a:lnSpc>
              <a:spcBef>
                <a:spcPct val="0"/>
              </a:spcBef>
            </a:pPr>
            <a:r>
              <a:rPr lang="en-US" sz="1899">
                <a:solidFill>
                  <a:srgbClr val="000000"/>
                </a:solidFill>
                <a:latin typeface="Cousine"/>
                <a:ea typeface="Cousine"/>
                <a:cs typeface="Cousine"/>
                <a:sym typeface="Cousine"/>
              </a:rPr>
              <a:t>Add a new product to one store</a:t>
            </a:r>
          </a:p>
          <a:p>
            <a:pPr algn="ctr">
              <a:lnSpc>
                <a:spcPts val="2659"/>
              </a:lnSpc>
              <a:spcBef>
                <a:spcPct val="0"/>
              </a:spcBef>
            </a:pPr>
            <a:r>
              <a:rPr lang="en-US" sz="1899">
                <a:solidFill>
                  <a:srgbClr val="000000"/>
                </a:solidFill>
                <a:latin typeface="Cousine"/>
                <a:ea typeface="Cousine"/>
                <a:cs typeface="Cousine"/>
                <a:sym typeface="Cousine"/>
              </a:rPr>
              <a:t>Edit an existing product</a:t>
            </a:r>
          </a:p>
          <a:p>
            <a:pPr algn="ctr">
              <a:lnSpc>
                <a:spcPts val="2659"/>
              </a:lnSpc>
              <a:spcBef>
                <a:spcPct val="0"/>
              </a:spcBef>
            </a:pPr>
            <a:r>
              <a:rPr lang="en-US" sz="1899">
                <a:solidFill>
                  <a:srgbClr val="000000"/>
                </a:solidFill>
                <a:latin typeface="Cousine"/>
                <a:ea typeface="Cousine"/>
                <a:cs typeface="Cousine"/>
                <a:sym typeface="Cousine"/>
              </a:rPr>
              <a:t>Delete a product</a:t>
            </a:r>
          </a:p>
          <a:p>
            <a:pPr algn="ctr">
              <a:lnSpc>
                <a:spcPts val="2659"/>
              </a:lnSpc>
              <a:spcBef>
                <a:spcPct val="0"/>
              </a:spcBef>
            </a:pPr>
            <a:r>
              <a:rPr lang="en-US" sz="1899">
                <a:solidFill>
                  <a:srgbClr val="000000"/>
                </a:solidFill>
                <a:latin typeface="Cousine"/>
                <a:ea typeface="Cousine"/>
                <a:cs typeface="Cousine"/>
                <a:sym typeface="Cousine"/>
              </a:rPr>
              <a:t>Show updated inventory</a:t>
            </a:r>
          </a:p>
        </p:txBody>
      </p:sp>
      <p:sp>
        <p:nvSpPr>
          <p:cNvPr name="TextBox 35" id="35"/>
          <p:cNvSpPr txBox="true"/>
          <p:nvPr/>
        </p:nvSpPr>
        <p:spPr>
          <a:xfrm rot="0">
            <a:off x="12862958" y="3069857"/>
            <a:ext cx="4519897" cy="266636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Cousine Bold"/>
                <a:ea typeface="Cousine Bold"/>
                <a:cs typeface="Cousine Bold"/>
                <a:sym typeface="Cousine Bold"/>
              </a:rPr>
              <a:t>Bu</a:t>
            </a:r>
            <a:r>
              <a:rPr lang="en-US" b="true" sz="1899">
                <a:solidFill>
                  <a:srgbClr val="000000"/>
                </a:solidFill>
                <a:latin typeface="Cousine Bold"/>
                <a:ea typeface="Cousine Bold"/>
                <a:cs typeface="Cousine Bold"/>
                <a:sym typeface="Cousine Bold"/>
              </a:rPr>
              <a:t>yer Demo</a:t>
            </a:r>
          </a:p>
          <a:p>
            <a:pPr algn="ctr">
              <a:lnSpc>
                <a:spcPts val="2659"/>
              </a:lnSpc>
              <a:spcBef>
                <a:spcPct val="0"/>
              </a:spcBef>
            </a:pPr>
            <a:r>
              <a:rPr lang="en-US" sz="1899">
                <a:solidFill>
                  <a:srgbClr val="000000"/>
                </a:solidFill>
                <a:latin typeface="Cousine"/>
                <a:ea typeface="Cousine"/>
                <a:cs typeface="Cousine"/>
                <a:sym typeface="Cousine"/>
              </a:rPr>
              <a:t>Enter name and phone</a:t>
            </a:r>
          </a:p>
          <a:p>
            <a:pPr algn="ctr">
              <a:lnSpc>
                <a:spcPts val="2659"/>
              </a:lnSpc>
              <a:spcBef>
                <a:spcPct val="0"/>
              </a:spcBef>
            </a:pPr>
            <a:r>
              <a:rPr lang="en-US" sz="1899">
                <a:solidFill>
                  <a:srgbClr val="000000"/>
                </a:solidFill>
                <a:latin typeface="Cousine"/>
                <a:ea typeface="Cousine"/>
                <a:cs typeface="Cousine"/>
                <a:sym typeface="Cousine"/>
              </a:rPr>
              <a:t>Check availability in a chosen store</a:t>
            </a:r>
          </a:p>
          <a:p>
            <a:pPr algn="ctr">
              <a:lnSpc>
                <a:spcPts val="2659"/>
              </a:lnSpc>
              <a:spcBef>
                <a:spcPct val="0"/>
              </a:spcBef>
            </a:pPr>
            <a:r>
              <a:rPr lang="en-US" sz="1899">
                <a:solidFill>
                  <a:srgbClr val="000000"/>
                </a:solidFill>
                <a:latin typeface="Cousine"/>
                <a:ea typeface="Cousine"/>
                <a:cs typeface="Cousine"/>
                <a:sym typeface="Cousine"/>
              </a:rPr>
              <a:t>Place an order (choose drink, quantity, delivery/pickup)</a:t>
            </a:r>
          </a:p>
          <a:p>
            <a:pPr algn="ctr">
              <a:lnSpc>
                <a:spcPts val="2659"/>
              </a:lnSpc>
              <a:spcBef>
                <a:spcPct val="0"/>
              </a:spcBef>
            </a:pPr>
            <a:r>
              <a:rPr lang="en-US" sz="1899">
                <a:solidFill>
                  <a:srgbClr val="000000"/>
                </a:solidFill>
                <a:latin typeface="Cousine"/>
                <a:ea typeface="Cousine"/>
                <a:cs typeface="Cousine"/>
                <a:sym typeface="Cousine"/>
              </a:rPr>
              <a:t>Show stock decreasing automatically</a:t>
            </a:r>
          </a:p>
        </p:txBody>
      </p:sp>
      <p:sp>
        <p:nvSpPr>
          <p:cNvPr name="TextBox 36" id="36"/>
          <p:cNvSpPr txBox="true"/>
          <p:nvPr/>
        </p:nvSpPr>
        <p:spPr>
          <a:xfrm rot="0">
            <a:off x="5699188" y="7075318"/>
            <a:ext cx="5370887" cy="133286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Cousine Bold"/>
                <a:ea typeface="Cousine Bold"/>
                <a:cs typeface="Cousine Bold"/>
                <a:sym typeface="Cousine Bold"/>
              </a:rPr>
              <a:t>Final Ov</a:t>
            </a:r>
            <a:r>
              <a:rPr lang="en-US" b="true" sz="1899">
                <a:solidFill>
                  <a:srgbClr val="000000"/>
                </a:solidFill>
                <a:latin typeface="Cousine Bold"/>
                <a:ea typeface="Cousine Bold"/>
                <a:cs typeface="Cousine Bold"/>
                <a:sym typeface="Cousine Bold"/>
              </a:rPr>
              <a:t>erview</a:t>
            </a:r>
          </a:p>
          <a:p>
            <a:pPr algn="ctr">
              <a:lnSpc>
                <a:spcPts val="2659"/>
              </a:lnSpc>
              <a:spcBef>
                <a:spcPct val="0"/>
              </a:spcBef>
            </a:pPr>
            <a:r>
              <a:rPr lang="en-US" sz="1899">
                <a:solidFill>
                  <a:srgbClr val="000000"/>
                </a:solidFill>
                <a:latin typeface="Cousine"/>
                <a:ea typeface="Cousine"/>
                <a:cs typeface="Cousine"/>
                <a:sym typeface="Cousine"/>
              </a:rPr>
              <a:t>Quick recap of how the system manages stores, updates stock, and automates orders efficiently.</a:t>
            </a:r>
          </a:p>
        </p:txBody>
      </p:sp>
      <p:sp>
        <p:nvSpPr>
          <p:cNvPr name="TextBox 37" id="37"/>
          <p:cNvSpPr txBox="true"/>
          <p:nvPr/>
        </p:nvSpPr>
        <p:spPr>
          <a:xfrm rot="0">
            <a:off x="12117943" y="6432698"/>
            <a:ext cx="4504588" cy="1332865"/>
          </a:xfrm>
          <a:prstGeom prst="rect">
            <a:avLst/>
          </a:prstGeom>
        </p:spPr>
        <p:txBody>
          <a:bodyPr anchor="t" rtlCol="false" tIns="0" lIns="0" bIns="0" rIns="0">
            <a:spAutoFit/>
          </a:bodyPr>
          <a:lstStyle/>
          <a:p>
            <a:pPr algn="ctr">
              <a:lnSpc>
                <a:spcPts val="2659"/>
              </a:lnSpc>
              <a:spcBef>
                <a:spcPct val="0"/>
              </a:spcBef>
            </a:pPr>
            <a:r>
              <a:rPr lang="en-US" b="true" sz="1899">
                <a:solidFill>
                  <a:srgbClr val="000000"/>
                </a:solidFill>
                <a:latin typeface="Cousine Bold"/>
                <a:ea typeface="Cousine Bold"/>
                <a:cs typeface="Cousine Bold"/>
                <a:sym typeface="Cousine Bold"/>
              </a:rPr>
              <a:t>R</a:t>
            </a:r>
            <a:r>
              <a:rPr lang="en-US" b="true" sz="1899">
                <a:solidFill>
                  <a:srgbClr val="000000"/>
                </a:solidFill>
                <a:latin typeface="Cousine Bold"/>
                <a:ea typeface="Cousine Bold"/>
                <a:cs typeface="Cousine Bold"/>
                <a:sym typeface="Cousine Bold"/>
              </a:rPr>
              <a:t>eceipt Showcase</a:t>
            </a:r>
          </a:p>
          <a:p>
            <a:pPr algn="ctr">
              <a:lnSpc>
                <a:spcPts val="2659"/>
              </a:lnSpc>
              <a:spcBef>
                <a:spcPct val="0"/>
              </a:spcBef>
            </a:pPr>
            <a:r>
              <a:rPr lang="en-US" sz="1899">
                <a:solidFill>
                  <a:srgbClr val="000000"/>
                </a:solidFill>
                <a:latin typeface="Cousine"/>
                <a:ea typeface="Cousine"/>
                <a:cs typeface="Cousine"/>
                <a:sym typeface="Cousine"/>
              </a:rPr>
              <a:t>Display the generated receipt with centered formatting and GMT+3 timestamp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08934" y="9193555"/>
            <a:ext cx="755149" cy="652980"/>
            <a:chOff x="0" y="0"/>
            <a:chExt cx="198887" cy="171978"/>
          </a:xfrm>
        </p:grpSpPr>
        <p:sp>
          <p:nvSpPr>
            <p:cNvPr name="Freeform 15" id="15"/>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6" id="16"/>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123917"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5444221" y="9193555"/>
            <a:ext cx="1271608" cy="652980"/>
            <a:chOff x="0" y="0"/>
            <a:chExt cx="334909" cy="171978"/>
          </a:xfrm>
        </p:grpSpPr>
        <p:sp>
          <p:nvSpPr>
            <p:cNvPr name="Freeform 23" id="23"/>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24" id="24"/>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6" id="26"/>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7" id="27"/>
          <p:cNvSpPr txBox="true"/>
          <p:nvPr/>
        </p:nvSpPr>
        <p:spPr>
          <a:xfrm rot="0">
            <a:off x="2544931"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b="true" sz="2968" spc="222" strike="noStrike" u="none">
                <a:solidFill>
                  <a:srgbClr val="000000"/>
                </a:solidFill>
                <a:latin typeface="Cousine Bold"/>
                <a:ea typeface="Cousine Bold"/>
                <a:cs typeface="Cousine Bold"/>
                <a:sym typeface="Cousine Bold"/>
              </a:rPr>
              <a:t>Content</a:t>
            </a:r>
          </a:p>
        </p:txBody>
      </p:sp>
      <p:sp>
        <p:nvSpPr>
          <p:cNvPr name="TextBox 28" id="28"/>
          <p:cNvSpPr txBox="true"/>
          <p:nvPr/>
        </p:nvSpPr>
        <p:spPr>
          <a:xfrm rot="0">
            <a:off x="5155770"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Contact</a:t>
            </a:r>
          </a:p>
        </p:txBody>
      </p:sp>
      <p:grpSp>
        <p:nvGrpSpPr>
          <p:cNvPr name="Group 29" id="29"/>
          <p:cNvGrpSpPr/>
          <p:nvPr/>
        </p:nvGrpSpPr>
        <p:grpSpPr>
          <a:xfrm rot="0">
            <a:off x="4629262" y="2557416"/>
            <a:ext cx="9029476" cy="2495419"/>
            <a:chOff x="0" y="0"/>
            <a:chExt cx="12039302" cy="3327225"/>
          </a:xfrm>
        </p:grpSpPr>
        <p:sp>
          <p:nvSpPr>
            <p:cNvPr name="Freeform 30" id="30"/>
            <p:cNvSpPr/>
            <p:nvPr/>
          </p:nvSpPr>
          <p:spPr>
            <a:xfrm flipH="false" flipV="false" rot="0">
              <a:off x="0" y="0"/>
              <a:ext cx="12039302" cy="3327225"/>
            </a:xfrm>
            <a:custGeom>
              <a:avLst/>
              <a:gdLst/>
              <a:ahLst/>
              <a:cxnLst/>
              <a:rect r="r" b="b" t="t" l="l"/>
              <a:pathLst>
                <a:path h="3327225" w="12039302">
                  <a:moveTo>
                    <a:pt x="0" y="0"/>
                  </a:moveTo>
                  <a:lnTo>
                    <a:pt x="12039302" y="0"/>
                  </a:lnTo>
                  <a:lnTo>
                    <a:pt x="12039302" y="3327225"/>
                  </a:lnTo>
                  <a:lnTo>
                    <a:pt x="0" y="33272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31" id="31"/>
            <p:cNvSpPr txBox="true"/>
            <p:nvPr/>
          </p:nvSpPr>
          <p:spPr>
            <a:xfrm rot="0">
              <a:off x="645586" y="793685"/>
              <a:ext cx="11098736" cy="1847466"/>
            </a:xfrm>
            <a:prstGeom prst="rect">
              <a:avLst/>
            </a:prstGeom>
          </p:spPr>
          <p:txBody>
            <a:bodyPr anchor="t" rtlCol="false" tIns="0" lIns="0" bIns="0" rIns="0">
              <a:spAutoFit/>
            </a:bodyPr>
            <a:lstStyle/>
            <a:p>
              <a:pPr algn="ctr">
                <a:lnSpc>
                  <a:spcPts val="3427"/>
                </a:lnSpc>
              </a:pPr>
              <a:r>
                <a:rPr lang="en-US" b="true" sz="4032" spc="-137">
                  <a:solidFill>
                    <a:srgbClr val="000000"/>
                  </a:solidFill>
                  <a:latin typeface="Anonymous Pro Bold"/>
                  <a:ea typeface="Anonymous Pro Bold"/>
                  <a:cs typeface="Anonymous Pro Bold"/>
                  <a:sym typeface="Anonymous Pro Bold"/>
                </a:rPr>
                <a:t>JAWA WANTS TO LEARN MORE, SO SHE CAN IMPLEMENT THE</a:t>
              </a:r>
              <a:r>
                <a:rPr lang="en-US" b="true" sz="4032" spc="-137">
                  <a:solidFill>
                    <a:srgbClr val="000000"/>
                  </a:solidFill>
                  <a:latin typeface="Anonymous Pro Bold"/>
                  <a:ea typeface="Anonymous Pro Bold"/>
                  <a:cs typeface="Anonymous Pro Bold"/>
                  <a:sym typeface="Anonymous Pro Bold"/>
                </a:rPr>
                <a:t> ENHANCEMENT SHE IS THRIVING FOR </a:t>
              </a:r>
            </a:p>
          </p:txBody>
        </p:sp>
      </p:grpSp>
      <p:sp>
        <p:nvSpPr>
          <p:cNvPr name="TextBox 32" id="32"/>
          <p:cNvSpPr txBox="true"/>
          <p:nvPr/>
        </p:nvSpPr>
        <p:spPr>
          <a:xfrm rot="0">
            <a:off x="584087" y="5203672"/>
            <a:ext cx="7827684" cy="3573948"/>
          </a:xfrm>
          <a:prstGeom prst="rect">
            <a:avLst/>
          </a:prstGeom>
        </p:spPr>
        <p:txBody>
          <a:bodyPr anchor="t" rtlCol="false" tIns="0" lIns="0" bIns="0" rIns="0">
            <a:spAutoFit/>
          </a:bodyPr>
          <a:lstStyle/>
          <a:p>
            <a:pPr algn="l">
              <a:lnSpc>
                <a:spcPts val="2598"/>
              </a:lnSpc>
              <a:spcBef>
                <a:spcPct val="0"/>
              </a:spcBef>
            </a:pPr>
            <a:r>
              <a:rPr lang="en-US" b="true" sz="1856">
                <a:solidFill>
                  <a:srgbClr val="000000"/>
                </a:solidFill>
                <a:latin typeface="Cousine Bold"/>
                <a:ea typeface="Cousine Bold"/>
                <a:cs typeface="Cousine Bold"/>
                <a:sym typeface="Cousine Bold"/>
              </a:rPr>
              <a:t>Graphical Us</a:t>
            </a:r>
            <a:r>
              <a:rPr lang="en-US" b="true" sz="1856">
                <a:solidFill>
                  <a:srgbClr val="000000"/>
                </a:solidFill>
                <a:latin typeface="Cousine Bold"/>
                <a:ea typeface="Cousine Bold"/>
                <a:cs typeface="Cousine Bold"/>
                <a:sym typeface="Cousine Bold"/>
              </a:rPr>
              <a:t>er Interface (GUI)</a:t>
            </a:r>
          </a:p>
          <a:p>
            <a:pPr algn="l">
              <a:lnSpc>
                <a:spcPts val="2598"/>
              </a:lnSpc>
              <a:spcBef>
                <a:spcPct val="0"/>
              </a:spcBef>
            </a:pPr>
            <a:r>
              <a:rPr lang="en-US" sz="1856">
                <a:solidFill>
                  <a:srgbClr val="000000"/>
                </a:solidFill>
                <a:latin typeface="Cousine"/>
                <a:ea typeface="Cousine"/>
                <a:cs typeface="Cousine"/>
                <a:sym typeface="Cousine"/>
              </a:rPr>
              <a:t> Transition from terminal-based interaction to a modern, user-friendly interface using Tkinter or a web dashboard.</a:t>
            </a:r>
          </a:p>
          <a:p>
            <a:pPr algn="l">
              <a:lnSpc>
                <a:spcPts val="2598"/>
              </a:lnSpc>
              <a:spcBef>
                <a:spcPct val="0"/>
              </a:spcBef>
            </a:pPr>
            <a:r>
              <a:rPr lang="en-US" b="true" sz="1856">
                <a:solidFill>
                  <a:srgbClr val="000000"/>
                </a:solidFill>
                <a:latin typeface="Cousine Bold"/>
                <a:ea typeface="Cousine Bold"/>
                <a:cs typeface="Cousine Bold"/>
                <a:sym typeface="Cousine Bold"/>
              </a:rPr>
              <a:t>Centralized Database System</a:t>
            </a:r>
          </a:p>
          <a:p>
            <a:pPr algn="l">
              <a:lnSpc>
                <a:spcPts val="2598"/>
              </a:lnSpc>
              <a:spcBef>
                <a:spcPct val="0"/>
              </a:spcBef>
            </a:pPr>
            <a:r>
              <a:rPr lang="en-US" sz="1856">
                <a:solidFill>
                  <a:srgbClr val="000000"/>
                </a:solidFill>
                <a:latin typeface="Cousine"/>
                <a:ea typeface="Cousine"/>
                <a:cs typeface="Cousine"/>
                <a:sym typeface="Cousine"/>
              </a:rPr>
              <a:t> Replace dictionaries with an SQL database to securely store inventory, prices, users, and order history across all branches.</a:t>
            </a:r>
          </a:p>
          <a:p>
            <a:pPr algn="l">
              <a:lnSpc>
                <a:spcPts val="2598"/>
              </a:lnSpc>
              <a:spcBef>
                <a:spcPct val="0"/>
              </a:spcBef>
            </a:pPr>
            <a:r>
              <a:rPr lang="en-US" b="true" sz="1856">
                <a:solidFill>
                  <a:srgbClr val="000000"/>
                </a:solidFill>
                <a:latin typeface="Cousine Bold"/>
                <a:ea typeface="Cousine Bold"/>
                <a:cs typeface="Cousine Bold"/>
                <a:sym typeface="Cousine Bold"/>
              </a:rPr>
              <a:t>User Accounts &amp; Authentication</a:t>
            </a:r>
          </a:p>
          <a:p>
            <a:pPr algn="l">
              <a:lnSpc>
                <a:spcPts val="2598"/>
              </a:lnSpc>
              <a:spcBef>
                <a:spcPct val="0"/>
              </a:spcBef>
            </a:pPr>
            <a:r>
              <a:rPr lang="en-US" sz="1856">
                <a:solidFill>
                  <a:srgbClr val="000000"/>
                </a:solidFill>
                <a:latin typeface="Cousine"/>
                <a:ea typeface="Cousine"/>
                <a:cs typeface="Cousine"/>
                <a:sym typeface="Cousine"/>
              </a:rPr>
              <a:t> Add logins for employees and buyers, with roles, permissions, and personalized dashboards.</a:t>
            </a:r>
          </a:p>
        </p:txBody>
      </p:sp>
      <p:sp>
        <p:nvSpPr>
          <p:cNvPr name="TextBox 33" id="33"/>
          <p:cNvSpPr txBox="true"/>
          <p:nvPr/>
        </p:nvSpPr>
        <p:spPr>
          <a:xfrm rot="0">
            <a:off x="9411161" y="5203672"/>
            <a:ext cx="8263558" cy="3877147"/>
          </a:xfrm>
          <a:prstGeom prst="rect">
            <a:avLst/>
          </a:prstGeom>
        </p:spPr>
        <p:txBody>
          <a:bodyPr anchor="t" rtlCol="false" tIns="0" lIns="0" bIns="0" rIns="0">
            <a:spAutoFit/>
          </a:bodyPr>
          <a:lstStyle/>
          <a:p>
            <a:pPr algn="l">
              <a:lnSpc>
                <a:spcPts val="2598"/>
              </a:lnSpc>
              <a:spcBef>
                <a:spcPct val="0"/>
              </a:spcBef>
            </a:pPr>
            <a:r>
              <a:rPr lang="en-US" b="true" sz="1856">
                <a:solidFill>
                  <a:srgbClr val="000000"/>
                </a:solidFill>
                <a:latin typeface="Cousine Bold"/>
                <a:ea typeface="Cousine Bold"/>
                <a:cs typeface="Cousine Bold"/>
                <a:sym typeface="Cousine Bold"/>
              </a:rPr>
              <a:t>Order Histo</a:t>
            </a:r>
            <a:r>
              <a:rPr lang="en-US" b="true" sz="1856">
                <a:solidFill>
                  <a:srgbClr val="000000"/>
                </a:solidFill>
                <a:latin typeface="Cousine Bold"/>
                <a:ea typeface="Cousine Bold"/>
                <a:cs typeface="Cousine Bold"/>
                <a:sym typeface="Cousine Bold"/>
              </a:rPr>
              <a:t>ry &amp; Analytics</a:t>
            </a:r>
          </a:p>
          <a:p>
            <a:pPr algn="l">
              <a:lnSpc>
                <a:spcPts val="2598"/>
              </a:lnSpc>
              <a:spcBef>
                <a:spcPct val="0"/>
              </a:spcBef>
            </a:pPr>
            <a:r>
              <a:rPr lang="en-US" sz="1856">
                <a:solidFill>
                  <a:srgbClr val="000000"/>
                </a:solidFill>
                <a:latin typeface="Cousine"/>
                <a:ea typeface="Cousine"/>
                <a:cs typeface="Cousine"/>
                <a:sym typeface="Cousine"/>
              </a:rPr>
              <a:t> Track past orders, generate sales reports, and visualize inventory trends for smarter decision-making.</a:t>
            </a:r>
          </a:p>
          <a:p>
            <a:pPr algn="l">
              <a:lnSpc>
                <a:spcPts val="2598"/>
              </a:lnSpc>
              <a:spcBef>
                <a:spcPct val="0"/>
              </a:spcBef>
            </a:pPr>
            <a:r>
              <a:rPr lang="en-US" b="true" sz="1856">
                <a:solidFill>
                  <a:srgbClr val="000000"/>
                </a:solidFill>
                <a:latin typeface="Cousine Bold"/>
                <a:ea typeface="Cousine Bold"/>
                <a:cs typeface="Cousine Bold"/>
                <a:sym typeface="Cousine Bold"/>
              </a:rPr>
              <a:t>Online Ordering &amp; Delivery Tracking</a:t>
            </a:r>
          </a:p>
          <a:p>
            <a:pPr algn="l">
              <a:lnSpc>
                <a:spcPts val="2598"/>
              </a:lnSpc>
              <a:spcBef>
                <a:spcPct val="0"/>
              </a:spcBef>
            </a:pPr>
            <a:r>
              <a:rPr lang="en-US" sz="1856">
                <a:solidFill>
                  <a:srgbClr val="000000"/>
                </a:solidFill>
                <a:latin typeface="Cousine"/>
                <a:ea typeface="Cousine"/>
                <a:cs typeface="Cousine"/>
                <a:sym typeface="Cousine"/>
              </a:rPr>
              <a:t> Allow customers to order from a mobile app or website and follow their delivery in real time.</a:t>
            </a:r>
          </a:p>
          <a:p>
            <a:pPr algn="l">
              <a:lnSpc>
                <a:spcPts val="2598"/>
              </a:lnSpc>
              <a:spcBef>
                <a:spcPct val="0"/>
              </a:spcBef>
            </a:pPr>
            <a:r>
              <a:rPr lang="en-US" b="true" sz="1856">
                <a:solidFill>
                  <a:srgbClr val="000000"/>
                </a:solidFill>
                <a:latin typeface="Cousine Bold"/>
                <a:ea typeface="Cousine Bold"/>
                <a:cs typeface="Cousine Bold"/>
                <a:sym typeface="Cousine Bold"/>
              </a:rPr>
              <a:t>Notifications System</a:t>
            </a:r>
          </a:p>
          <a:p>
            <a:pPr algn="l">
              <a:lnSpc>
                <a:spcPts val="2598"/>
              </a:lnSpc>
              <a:spcBef>
                <a:spcPct val="0"/>
              </a:spcBef>
            </a:pPr>
            <a:r>
              <a:rPr lang="en-US" sz="1856">
                <a:solidFill>
                  <a:srgbClr val="000000"/>
                </a:solidFill>
                <a:latin typeface="Cousine"/>
                <a:ea typeface="Cousine"/>
                <a:cs typeface="Cousine"/>
                <a:sym typeface="Cousine"/>
              </a:rPr>
              <a:t> Send low-stock alerts to employees and order confirmations to buyers via SMS or email.</a:t>
            </a:r>
          </a:p>
          <a:p>
            <a:pPr algn="l">
              <a:lnSpc>
                <a:spcPts val="2598"/>
              </a:lnSpc>
              <a:spcBef>
                <a:spcPct val="0"/>
              </a:spcBef>
            </a:pPr>
            <a:r>
              <a:rPr lang="en-US" b="true" sz="1856">
                <a:solidFill>
                  <a:srgbClr val="000000"/>
                </a:solidFill>
                <a:latin typeface="Cousine Bold"/>
                <a:ea typeface="Cousine Bold"/>
                <a:cs typeface="Cousine Bold"/>
                <a:sym typeface="Cousine Bold"/>
              </a:rPr>
              <a:t>Multi-language Support</a:t>
            </a:r>
          </a:p>
          <a:p>
            <a:pPr algn="l">
              <a:lnSpc>
                <a:spcPts val="2598"/>
              </a:lnSpc>
              <a:spcBef>
                <a:spcPct val="0"/>
              </a:spcBef>
            </a:pPr>
            <a:r>
              <a:rPr lang="en-US" sz="1856">
                <a:solidFill>
                  <a:srgbClr val="000000"/>
                </a:solidFill>
                <a:latin typeface="Cousine"/>
                <a:ea typeface="Cousine"/>
                <a:cs typeface="Cousine"/>
                <a:sym typeface="Cousine"/>
              </a:rPr>
              <a:t> Offer Arabic, English, and Russian interfaces for wider accessibility.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5741159" y="9193555"/>
            <a:ext cx="1271608" cy="652980"/>
            <a:chOff x="0" y="0"/>
            <a:chExt cx="334909" cy="171978"/>
          </a:xfrm>
        </p:grpSpPr>
        <p:sp>
          <p:nvSpPr>
            <p:cNvPr name="Freeform 15" id="15"/>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16" id="16"/>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408934"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7123917" y="9193555"/>
            <a:ext cx="755149" cy="652980"/>
            <a:chOff x="0" y="0"/>
            <a:chExt cx="198887" cy="171978"/>
          </a:xfrm>
        </p:grpSpPr>
        <p:sp>
          <p:nvSpPr>
            <p:cNvPr name="Freeform 21" id="21"/>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22" id="22"/>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6" id="26"/>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Home</a:t>
            </a:r>
          </a:p>
        </p:txBody>
      </p:sp>
      <p:sp>
        <p:nvSpPr>
          <p:cNvPr name="TextBox 27" id="27"/>
          <p:cNvSpPr txBox="true"/>
          <p:nvPr/>
        </p:nvSpPr>
        <p:spPr>
          <a:xfrm rot="0">
            <a:off x="2544931" y="1585058"/>
            <a:ext cx="1960844" cy="515159"/>
          </a:xfrm>
          <a:prstGeom prst="rect">
            <a:avLst/>
          </a:prstGeom>
        </p:spPr>
        <p:txBody>
          <a:bodyPr anchor="t" rtlCol="false" tIns="0" lIns="0" bIns="0" rIns="0">
            <a:spAutoFit/>
          </a:bodyPr>
          <a:lstStyle/>
          <a:p>
            <a:pPr algn="l">
              <a:lnSpc>
                <a:spcPts val="4155"/>
              </a:lnSpc>
            </a:pPr>
            <a:r>
              <a:rPr lang="en-US" sz="2968" spc="222" b="true">
                <a:solidFill>
                  <a:srgbClr val="000000"/>
                </a:solidFill>
                <a:latin typeface="Cousine Bold"/>
                <a:ea typeface="Cousine Bold"/>
                <a:cs typeface="Cousine Bold"/>
                <a:sym typeface="Cousine Bold"/>
              </a:rPr>
              <a:t>Content</a:t>
            </a:r>
          </a:p>
        </p:txBody>
      </p:sp>
      <p:sp>
        <p:nvSpPr>
          <p:cNvPr name="TextBox 28" id="28"/>
          <p:cNvSpPr txBox="true"/>
          <p:nvPr/>
        </p:nvSpPr>
        <p:spPr>
          <a:xfrm rot="0">
            <a:off x="5155770"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sz="2968" spc="222" strike="noStrike" u="none">
                <a:solidFill>
                  <a:srgbClr val="000000"/>
                </a:solidFill>
                <a:latin typeface="Cousine"/>
                <a:ea typeface="Cousine"/>
                <a:cs typeface="Cousine"/>
                <a:sym typeface="Cousine"/>
              </a:rPr>
              <a:t>Contact</a:t>
            </a:r>
          </a:p>
        </p:txBody>
      </p:sp>
      <p:sp>
        <p:nvSpPr>
          <p:cNvPr name="TextBox 29" id="29"/>
          <p:cNvSpPr txBox="true"/>
          <p:nvPr/>
        </p:nvSpPr>
        <p:spPr>
          <a:xfrm rot="0">
            <a:off x="11206640" y="2583523"/>
            <a:ext cx="6468078" cy="4059555"/>
          </a:xfrm>
          <a:prstGeom prst="rect">
            <a:avLst/>
          </a:prstGeom>
        </p:spPr>
        <p:txBody>
          <a:bodyPr anchor="t" rtlCol="false" tIns="0" lIns="0" bIns="0" rIns="0">
            <a:spAutoFit/>
          </a:bodyPr>
          <a:lstStyle/>
          <a:p>
            <a:pPr algn="l">
              <a:lnSpc>
                <a:spcPts val="4620"/>
              </a:lnSpc>
              <a:spcBef>
                <a:spcPct val="0"/>
              </a:spcBef>
            </a:pPr>
            <a:r>
              <a:rPr lang="en-US" b="true" sz="3300">
                <a:solidFill>
                  <a:srgbClr val="000000"/>
                </a:solidFill>
                <a:latin typeface="Anonymous Pro Bold"/>
                <a:ea typeface="Anonymous Pro Bold"/>
                <a:cs typeface="Anonymous Pro Bold"/>
                <a:sym typeface="Anonymous Pro Bold"/>
              </a:rPr>
              <a:t>I would like to sincerely thank my tutor and mentor for their continuous guidance and patience, and the Paper Airplanes team for their support throughout this learning journey.</a:t>
            </a:r>
          </a:p>
        </p:txBody>
      </p:sp>
      <p:sp>
        <p:nvSpPr>
          <p:cNvPr name="TextBox 30" id="30"/>
          <p:cNvSpPr txBox="true"/>
          <p:nvPr/>
        </p:nvSpPr>
        <p:spPr>
          <a:xfrm rot="0">
            <a:off x="904261" y="2601302"/>
            <a:ext cx="5385782" cy="6137274"/>
          </a:xfrm>
          <a:prstGeom prst="rect">
            <a:avLst/>
          </a:prstGeom>
        </p:spPr>
        <p:txBody>
          <a:bodyPr anchor="t" rtlCol="false" tIns="0" lIns="0" bIns="0" rIns="0">
            <a:spAutoFit/>
          </a:bodyPr>
          <a:lstStyle/>
          <a:p>
            <a:pPr algn="ctr">
              <a:lnSpc>
                <a:spcPts val="3500"/>
              </a:lnSpc>
            </a:pPr>
            <a:r>
              <a:rPr lang="en-US" b="true" sz="2500">
                <a:solidFill>
                  <a:srgbClr val="000000"/>
                </a:solidFill>
                <a:latin typeface="Cousine Bold"/>
                <a:ea typeface="Cousine Bold"/>
                <a:cs typeface="Cousine Bold"/>
                <a:sym typeface="Cousine Bold"/>
              </a:rPr>
              <a:t>DrinksLaunch successfully simplifies multi-store drink management by providing a fast, reliable, and user-friendly system for both employees and buyers.</a:t>
            </a:r>
          </a:p>
          <a:p>
            <a:pPr algn="ctr">
              <a:lnSpc>
                <a:spcPts val="3500"/>
              </a:lnSpc>
              <a:spcBef>
                <a:spcPct val="0"/>
              </a:spcBef>
            </a:pPr>
            <a:r>
              <a:rPr lang="en-US" b="true" sz="2500">
                <a:solidFill>
                  <a:srgbClr val="000000"/>
                </a:solidFill>
                <a:latin typeface="Cousine Bold"/>
                <a:ea typeface="Cousine Bold"/>
                <a:cs typeface="Cousine Bold"/>
                <a:sym typeface="Cousine Bold"/>
              </a:rPr>
              <a:t> Through automation, clear workflows, and real-time inventory updates, the project demonstrates how simple code can solve real operational problems and create a smoother experience for everyone involved.</a:t>
            </a:r>
          </a:p>
        </p:txBody>
      </p:sp>
      <p:sp>
        <p:nvSpPr>
          <p:cNvPr name="TextBox 31" id="31"/>
          <p:cNvSpPr txBox="true"/>
          <p:nvPr/>
        </p:nvSpPr>
        <p:spPr>
          <a:xfrm rot="0">
            <a:off x="11240349" y="7147903"/>
            <a:ext cx="5772418" cy="1757044"/>
          </a:xfrm>
          <a:prstGeom prst="rect">
            <a:avLst/>
          </a:prstGeom>
        </p:spPr>
        <p:txBody>
          <a:bodyPr anchor="t" rtlCol="false" tIns="0" lIns="0" bIns="0" rIns="0">
            <a:spAutoFit/>
          </a:bodyPr>
          <a:lstStyle/>
          <a:p>
            <a:pPr algn="ctr">
              <a:lnSpc>
                <a:spcPts val="2380"/>
              </a:lnSpc>
              <a:spcBef>
                <a:spcPct val="0"/>
              </a:spcBef>
            </a:pPr>
            <a:r>
              <a:rPr lang="en-US" sz="1700">
                <a:solidFill>
                  <a:srgbClr val="000000"/>
                </a:solidFill>
                <a:latin typeface="Cousine"/>
                <a:ea typeface="Cousine"/>
                <a:cs typeface="Cousine"/>
                <a:sym typeface="Cousine"/>
              </a:rPr>
              <a:t>And finally — a special thanks to the 1C Enterprise interface, which, despite being one of the most challenging and confusing systems I’ve ever worked with, inspired me to create an app that’s actually intuitive, modern, and enjoyable to use.</a:t>
            </a:r>
          </a:p>
        </p:txBody>
      </p:sp>
      <p:sp>
        <p:nvSpPr>
          <p:cNvPr name="Freeform 32" id="32"/>
          <p:cNvSpPr/>
          <p:nvPr/>
        </p:nvSpPr>
        <p:spPr>
          <a:xfrm flipH="false" flipV="false" rot="0">
            <a:off x="6859408" y="4137213"/>
            <a:ext cx="3777868" cy="2012573"/>
          </a:xfrm>
          <a:custGeom>
            <a:avLst/>
            <a:gdLst/>
            <a:ahLst/>
            <a:cxnLst/>
            <a:rect r="r" b="b" t="t" l="l"/>
            <a:pathLst>
              <a:path h="2012573" w="3777868">
                <a:moveTo>
                  <a:pt x="0" y="0"/>
                </a:moveTo>
                <a:lnTo>
                  <a:pt x="3777867" y="0"/>
                </a:lnTo>
                <a:lnTo>
                  <a:pt x="3777867" y="2012574"/>
                </a:lnTo>
                <a:lnTo>
                  <a:pt x="0" y="20125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10297842" y="5546482"/>
            <a:ext cx="523211" cy="890917"/>
          </a:xfrm>
          <a:custGeom>
            <a:avLst/>
            <a:gdLst/>
            <a:ahLst/>
            <a:cxnLst/>
            <a:rect r="r" b="b" t="t" l="l"/>
            <a:pathLst>
              <a:path h="890917" w="523211">
                <a:moveTo>
                  <a:pt x="0" y="0"/>
                </a:moveTo>
                <a:lnTo>
                  <a:pt x="523211" y="0"/>
                </a:lnTo>
                <a:lnTo>
                  <a:pt x="523211" y="890917"/>
                </a:lnTo>
                <a:lnTo>
                  <a:pt x="0" y="8909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7032485" y="4797668"/>
            <a:ext cx="3507912" cy="805963"/>
          </a:xfrm>
          <a:prstGeom prst="rect">
            <a:avLst/>
          </a:prstGeom>
        </p:spPr>
        <p:txBody>
          <a:bodyPr anchor="t" rtlCol="false" tIns="0" lIns="0" bIns="0" rIns="0">
            <a:spAutoFit/>
          </a:bodyPr>
          <a:lstStyle/>
          <a:p>
            <a:pPr algn="ctr">
              <a:lnSpc>
                <a:spcPts val="3026"/>
              </a:lnSpc>
            </a:pPr>
            <a:r>
              <a:rPr lang="en-US" b="true" sz="3560" spc="-121">
                <a:solidFill>
                  <a:srgbClr val="000000"/>
                </a:solidFill>
                <a:latin typeface="Anonymous Pro Bold"/>
                <a:ea typeface="Anonymous Pro Bold"/>
                <a:cs typeface="Anonymous Pro Bold"/>
                <a:sym typeface="Anonymous Pro Bold"/>
              </a:rPr>
              <a:t>CONCLUSION</a:t>
            </a:r>
            <a:r>
              <a:rPr lang="en-US" b="true" sz="3560" spc="-121">
                <a:solidFill>
                  <a:srgbClr val="000000"/>
                </a:solidFill>
                <a:latin typeface="Anonymous Pro Bold"/>
                <a:ea typeface="Anonymous Pro Bold"/>
                <a:cs typeface="Anonymous Pro Bold"/>
                <a:sym typeface="Anonymous Pro Bold"/>
              </a:rPr>
              <a:t> &amp; ACKNOWLEDGMENTS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ACACA"/>
        </a:solidFill>
      </p:bgPr>
    </p:bg>
    <p:spTree>
      <p:nvGrpSpPr>
        <p:cNvPr id="1" name=""/>
        <p:cNvGrpSpPr/>
        <p:nvPr/>
      </p:nvGrpSpPr>
      <p:grpSpPr>
        <a:xfrm>
          <a:off x="0" y="0"/>
          <a:ext cx="0" cy="0"/>
          <a:chOff x="0" y="0"/>
          <a:chExt cx="0" cy="0"/>
        </a:xfrm>
      </p:grpSpPr>
      <p:grpSp>
        <p:nvGrpSpPr>
          <p:cNvPr name="Group 2" id="2"/>
          <p:cNvGrpSpPr/>
          <p:nvPr/>
        </p:nvGrpSpPr>
        <p:grpSpPr>
          <a:xfrm rot="0">
            <a:off x="408934" y="440465"/>
            <a:ext cx="17470132" cy="957120"/>
            <a:chOff x="0" y="0"/>
            <a:chExt cx="4601187" cy="252081"/>
          </a:xfrm>
        </p:grpSpPr>
        <p:sp>
          <p:nvSpPr>
            <p:cNvPr name="Freeform 3" id="3"/>
            <p:cNvSpPr/>
            <p:nvPr/>
          </p:nvSpPr>
          <p:spPr>
            <a:xfrm flipH="false" flipV="false" rot="0">
              <a:off x="0" y="0"/>
              <a:ext cx="4601187" cy="252081"/>
            </a:xfrm>
            <a:custGeom>
              <a:avLst/>
              <a:gdLst/>
              <a:ahLst/>
              <a:cxnLst/>
              <a:rect r="r" b="b" t="t" l="l"/>
              <a:pathLst>
                <a:path h="252081" w="4601187">
                  <a:moveTo>
                    <a:pt x="0" y="0"/>
                  </a:moveTo>
                  <a:lnTo>
                    <a:pt x="4601187" y="0"/>
                  </a:lnTo>
                  <a:lnTo>
                    <a:pt x="4601187" y="252081"/>
                  </a:lnTo>
                  <a:lnTo>
                    <a:pt x="0" y="252081"/>
                  </a:lnTo>
                  <a:close/>
                </a:path>
              </a:pathLst>
            </a:custGeom>
            <a:solidFill>
              <a:srgbClr val="0057CC"/>
            </a:solidFill>
            <a:ln w="28575" cap="sq">
              <a:solidFill>
                <a:srgbClr val="000000"/>
              </a:solidFill>
              <a:prstDash val="solid"/>
              <a:miter/>
            </a:ln>
          </p:spPr>
        </p:sp>
        <p:sp>
          <p:nvSpPr>
            <p:cNvPr name="TextBox 4" id="4"/>
            <p:cNvSpPr txBox="true"/>
            <p:nvPr/>
          </p:nvSpPr>
          <p:spPr>
            <a:xfrm>
              <a:off x="0" y="-47625"/>
              <a:ext cx="4601187" cy="29970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08934" y="2301613"/>
            <a:ext cx="17470132" cy="7544923"/>
            <a:chOff x="0" y="0"/>
            <a:chExt cx="4601187" cy="1987140"/>
          </a:xfrm>
        </p:grpSpPr>
        <p:sp>
          <p:nvSpPr>
            <p:cNvPr name="Freeform 6" id="6"/>
            <p:cNvSpPr/>
            <p:nvPr/>
          </p:nvSpPr>
          <p:spPr>
            <a:xfrm flipH="false" flipV="false" rot="0">
              <a:off x="0" y="0"/>
              <a:ext cx="4601187" cy="1987140"/>
            </a:xfrm>
            <a:custGeom>
              <a:avLst/>
              <a:gdLst/>
              <a:ahLst/>
              <a:cxnLst/>
              <a:rect r="r" b="b" t="t" l="l"/>
              <a:pathLst>
                <a:path h="1987140" w="4601187">
                  <a:moveTo>
                    <a:pt x="0" y="0"/>
                  </a:moveTo>
                  <a:lnTo>
                    <a:pt x="4601187" y="0"/>
                  </a:lnTo>
                  <a:lnTo>
                    <a:pt x="4601187" y="1987140"/>
                  </a:lnTo>
                  <a:lnTo>
                    <a:pt x="0" y="1987140"/>
                  </a:lnTo>
                  <a:close/>
                </a:path>
              </a:pathLst>
            </a:custGeom>
            <a:solidFill>
              <a:srgbClr val="FFFFFF"/>
            </a:solidFill>
            <a:ln w="28575" cap="sq">
              <a:solidFill>
                <a:srgbClr val="000000"/>
              </a:solidFill>
              <a:prstDash val="solid"/>
              <a:miter/>
            </a:ln>
          </p:spPr>
        </p:sp>
        <p:sp>
          <p:nvSpPr>
            <p:cNvPr name="TextBox 7" id="7"/>
            <p:cNvSpPr txBox="true"/>
            <p:nvPr/>
          </p:nvSpPr>
          <p:spPr>
            <a:xfrm>
              <a:off x="0" y="-47625"/>
              <a:ext cx="4601187" cy="20347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712909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67139"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807211" y="646211"/>
            <a:ext cx="545628" cy="545628"/>
          </a:xfrm>
          <a:custGeom>
            <a:avLst/>
            <a:gdLst/>
            <a:ahLst/>
            <a:cxnLst/>
            <a:rect r="r" b="b" t="t" l="l"/>
            <a:pathLst>
              <a:path h="545628" w="545628">
                <a:moveTo>
                  <a:pt x="0" y="0"/>
                </a:moveTo>
                <a:lnTo>
                  <a:pt x="545628" y="0"/>
                </a:lnTo>
                <a:lnTo>
                  <a:pt x="545628" y="545628"/>
                </a:lnTo>
                <a:lnTo>
                  <a:pt x="0" y="545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08934" y="9193555"/>
            <a:ext cx="17470132" cy="652980"/>
            <a:chOff x="0" y="0"/>
            <a:chExt cx="4601187" cy="171978"/>
          </a:xfrm>
        </p:grpSpPr>
        <p:sp>
          <p:nvSpPr>
            <p:cNvPr name="Freeform 12" id="12"/>
            <p:cNvSpPr/>
            <p:nvPr/>
          </p:nvSpPr>
          <p:spPr>
            <a:xfrm flipH="false" flipV="false" rot="0">
              <a:off x="0" y="0"/>
              <a:ext cx="4601187" cy="171978"/>
            </a:xfrm>
            <a:custGeom>
              <a:avLst/>
              <a:gdLst/>
              <a:ahLst/>
              <a:cxnLst/>
              <a:rect r="r" b="b" t="t" l="l"/>
              <a:pathLst>
                <a:path h="171978" w="4601187">
                  <a:moveTo>
                    <a:pt x="0" y="0"/>
                  </a:moveTo>
                  <a:lnTo>
                    <a:pt x="4601187" y="0"/>
                  </a:lnTo>
                  <a:lnTo>
                    <a:pt x="4601187" y="171978"/>
                  </a:lnTo>
                  <a:lnTo>
                    <a:pt x="0" y="171978"/>
                  </a:lnTo>
                  <a:close/>
                </a:path>
              </a:pathLst>
            </a:custGeom>
            <a:solidFill>
              <a:srgbClr val="C0C0C0"/>
            </a:solidFill>
            <a:ln w="28575" cap="sq">
              <a:solidFill>
                <a:srgbClr val="000000"/>
              </a:solidFill>
              <a:prstDash val="solid"/>
              <a:miter/>
            </a:ln>
          </p:spPr>
        </p:sp>
        <p:sp>
          <p:nvSpPr>
            <p:cNvPr name="TextBox 13" id="13"/>
            <p:cNvSpPr txBox="true"/>
            <p:nvPr/>
          </p:nvSpPr>
          <p:spPr>
            <a:xfrm>
              <a:off x="0" y="-38100"/>
              <a:ext cx="46011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5886058" y="9193555"/>
            <a:ext cx="1271608" cy="652980"/>
            <a:chOff x="0" y="0"/>
            <a:chExt cx="334909" cy="171978"/>
          </a:xfrm>
        </p:grpSpPr>
        <p:sp>
          <p:nvSpPr>
            <p:cNvPr name="Freeform 15" id="15"/>
            <p:cNvSpPr/>
            <p:nvPr/>
          </p:nvSpPr>
          <p:spPr>
            <a:xfrm flipH="false" flipV="false" rot="0">
              <a:off x="0" y="0"/>
              <a:ext cx="334909" cy="171978"/>
            </a:xfrm>
            <a:custGeom>
              <a:avLst/>
              <a:gdLst/>
              <a:ahLst/>
              <a:cxnLst/>
              <a:rect r="r" b="b" t="t" l="l"/>
              <a:pathLst>
                <a:path h="171978" w="334909">
                  <a:moveTo>
                    <a:pt x="0" y="0"/>
                  </a:moveTo>
                  <a:lnTo>
                    <a:pt x="334909" y="0"/>
                  </a:lnTo>
                  <a:lnTo>
                    <a:pt x="334909" y="171978"/>
                  </a:lnTo>
                  <a:lnTo>
                    <a:pt x="0" y="171978"/>
                  </a:lnTo>
                  <a:close/>
                </a:path>
              </a:pathLst>
            </a:custGeom>
            <a:solidFill>
              <a:srgbClr val="999999"/>
            </a:solidFill>
            <a:ln w="28575" cap="sq">
              <a:solidFill>
                <a:srgbClr val="000000"/>
              </a:solidFill>
              <a:prstDash val="solid"/>
              <a:miter/>
            </a:ln>
          </p:spPr>
        </p:sp>
        <p:sp>
          <p:nvSpPr>
            <p:cNvPr name="TextBox 16" id="16"/>
            <p:cNvSpPr txBox="true"/>
            <p:nvPr/>
          </p:nvSpPr>
          <p:spPr>
            <a:xfrm>
              <a:off x="0" y="-38100"/>
              <a:ext cx="334909"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408934" y="9193555"/>
            <a:ext cx="755149" cy="652980"/>
            <a:chOff x="0" y="0"/>
            <a:chExt cx="198887" cy="171978"/>
          </a:xfrm>
        </p:grpSpPr>
        <p:sp>
          <p:nvSpPr>
            <p:cNvPr name="Freeform 18" id="18"/>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19" id="19"/>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7123917" y="9193555"/>
            <a:ext cx="755149" cy="652980"/>
            <a:chOff x="0" y="0"/>
            <a:chExt cx="198887" cy="171978"/>
          </a:xfrm>
        </p:grpSpPr>
        <p:sp>
          <p:nvSpPr>
            <p:cNvPr name="Freeform 21" id="21"/>
            <p:cNvSpPr/>
            <p:nvPr/>
          </p:nvSpPr>
          <p:spPr>
            <a:xfrm flipH="false" flipV="false" rot="0">
              <a:off x="0" y="0"/>
              <a:ext cx="198887" cy="171978"/>
            </a:xfrm>
            <a:custGeom>
              <a:avLst/>
              <a:gdLst/>
              <a:ahLst/>
              <a:cxnLst/>
              <a:rect r="r" b="b" t="t" l="l"/>
              <a:pathLst>
                <a:path h="171978" w="198887">
                  <a:moveTo>
                    <a:pt x="0" y="0"/>
                  </a:moveTo>
                  <a:lnTo>
                    <a:pt x="198887" y="0"/>
                  </a:lnTo>
                  <a:lnTo>
                    <a:pt x="198887" y="171978"/>
                  </a:lnTo>
                  <a:lnTo>
                    <a:pt x="0" y="171978"/>
                  </a:lnTo>
                  <a:close/>
                </a:path>
              </a:pathLst>
            </a:custGeom>
            <a:solidFill>
              <a:srgbClr val="C0C0C0"/>
            </a:solidFill>
            <a:ln w="28575" cap="sq">
              <a:solidFill>
                <a:srgbClr val="000000"/>
              </a:solidFill>
              <a:prstDash val="solid"/>
              <a:miter/>
            </a:ln>
          </p:spPr>
        </p:sp>
        <p:sp>
          <p:nvSpPr>
            <p:cNvPr name="TextBox 22" id="22"/>
            <p:cNvSpPr txBox="true"/>
            <p:nvPr/>
          </p:nvSpPr>
          <p:spPr>
            <a:xfrm>
              <a:off x="0" y="-38100"/>
              <a:ext cx="198887" cy="210078"/>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17382855" y="9306337"/>
            <a:ext cx="320173" cy="427416"/>
          </a:xfrm>
          <a:custGeom>
            <a:avLst/>
            <a:gdLst/>
            <a:ahLst/>
            <a:cxnLst/>
            <a:rect r="r" b="b" t="t" l="l"/>
            <a:pathLst>
              <a:path h="427416" w="320173">
                <a:moveTo>
                  <a:pt x="0" y="0"/>
                </a:moveTo>
                <a:lnTo>
                  <a:pt x="320173" y="0"/>
                </a:lnTo>
                <a:lnTo>
                  <a:pt x="320173" y="427416"/>
                </a:lnTo>
                <a:lnTo>
                  <a:pt x="0" y="4274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584087" y="9306337"/>
            <a:ext cx="320173" cy="427416"/>
          </a:xfrm>
          <a:custGeom>
            <a:avLst/>
            <a:gdLst/>
            <a:ahLst/>
            <a:cxnLst/>
            <a:rect r="r" b="b" t="t" l="l"/>
            <a:pathLst>
              <a:path h="427416" w="320173">
                <a:moveTo>
                  <a:pt x="320174" y="0"/>
                </a:moveTo>
                <a:lnTo>
                  <a:pt x="0" y="0"/>
                </a:lnTo>
                <a:lnTo>
                  <a:pt x="0" y="427416"/>
                </a:lnTo>
                <a:lnTo>
                  <a:pt x="320174" y="427416"/>
                </a:lnTo>
                <a:lnTo>
                  <a:pt x="3201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4038281" y="2614566"/>
            <a:ext cx="10211437" cy="1792465"/>
          </a:xfrm>
          <a:prstGeom prst="rect">
            <a:avLst/>
          </a:prstGeom>
        </p:spPr>
        <p:txBody>
          <a:bodyPr anchor="t" rtlCol="false" tIns="0" lIns="0" bIns="0" rIns="0">
            <a:spAutoFit/>
          </a:bodyPr>
          <a:lstStyle/>
          <a:p>
            <a:pPr algn="ctr">
              <a:lnSpc>
                <a:spcPts val="13499"/>
              </a:lnSpc>
            </a:pPr>
            <a:r>
              <a:rPr lang="en-US" b="true" sz="13499" spc="-458">
                <a:solidFill>
                  <a:srgbClr val="0057CC"/>
                </a:solidFill>
                <a:latin typeface="Anonymous Pro Bold"/>
                <a:ea typeface="Anonymous Pro Bold"/>
                <a:cs typeface="Anonymous Pro Bold"/>
                <a:sym typeface="Anonymous Pro Bold"/>
              </a:rPr>
              <a:t>REFERENCES</a:t>
            </a:r>
          </a:p>
        </p:txBody>
      </p:sp>
      <p:sp>
        <p:nvSpPr>
          <p:cNvPr name="TextBox 26" id="26"/>
          <p:cNvSpPr txBox="true"/>
          <p:nvPr/>
        </p:nvSpPr>
        <p:spPr>
          <a:xfrm rot="0">
            <a:off x="584087" y="644177"/>
            <a:ext cx="5115100" cy="547687"/>
          </a:xfrm>
          <a:prstGeom prst="rect">
            <a:avLst/>
          </a:prstGeom>
        </p:spPr>
        <p:txBody>
          <a:bodyPr anchor="t" rtlCol="false" tIns="0" lIns="0" bIns="0" rIns="0">
            <a:spAutoFit/>
          </a:bodyPr>
          <a:lstStyle/>
          <a:p>
            <a:pPr algn="l">
              <a:lnSpc>
                <a:spcPts val="4462"/>
              </a:lnSpc>
            </a:pPr>
            <a:r>
              <a:rPr lang="en-US" sz="3187" b="true">
                <a:solidFill>
                  <a:srgbClr val="CACACA"/>
                </a:solidFill>
                <a:latin typeface="Cousine Bold"/>
                <a:ea typeface="Cousine Bold"/>
                <a:cs typeface="Cousine Bold"/>
                <a:sym typeface="Cousine Bold"/>
              </a:rPr>
              <a:t>Women in Tech Program </a:t>
            </a:r>
          </a:p>
        </p:txBody>
      </p:sp>
      <p:sp>
        <p:nvSpPr>
          <p:cNvPr name="TextBox 27" id="27"/>
          <p:cNvSpPr txBox="true"/>
          <p:nvPr/>
        </p:nvSpPr>
        <p:spPr>
          <a:xfrm rot="0">
            <a:off x="584087" y="1585058"/>
            <a:ext cx="1217202" cy="515159"/>
          </a:xfrm>
          <a:prstGeom prst="rect">
            <a:avLst/>
          </a:prstGeom>
        </p:spPr>
        <p:txBody>
          <a:bodyPr anchor="t" rtlCol="false" tIns="0" lIns="0" bIns="0" rIns="0">
            <a:spAutoFit/>
          </a:bodyPr>
          <a:lstStyle/>
          <a:p>
            <a:pPr algn="l">
              <a:lnSpc>
                <a:spcPts val="4155"/>
              </a:lnSpc>
            </a:pPr>
            <a:r>
              <a:rPr lang="en-US" sz="2968" spc="222" b="true">
                <a:solidFill>
                  <a:srgbClr val="000000"/>
                </a:solidFill>
                <a:latin typeface="Cousine Bold"/>
                <a:ea typeface="Cousine Bold"/>
                <a:cs typeface="Cousine Bold"/>
                <a:sym typeface="Cousine Bold"/>
              </a:rPr>
              <a:t>Home</a:t>
            </a:r>
          </a:p>
        </p:txBody>
      </p:sp>
      <p:sp>
        <p:nvSpPr>
          <p:cNvPr name="TextBox 28" id="28"/>
          <p:cNvSpPr txBox="true"/>
          <p:nvPr/>
        </p:nvSpPr>
        <p:spPr>
          <a:xfrm rot="0">
            <a:off x="2544931" y="1585058"/>
            <a:ext cx="1960844" cy="515159"/>
          </a:xfrm>
          <a:prstGeom prst="rect">
            <a:avLst/>
          </a:prstGeom>
        </p:spPr>
        <p:txBody>
          <a:bodyPr anchor="t" rtlCol="false" tIns="0" lIns="0" bIns="0" rIns="0">
            <a:spAutoFit/>
          </a:bodyPr>
          <a:lstStyle/>
          <a:p>
            <a:pPr algn="l">
              <a:lnSpc>
                <a:spcPts val="4155"/>
              </a:lnSpc>
            </a:pPr>
            <a:r>
              <a:rPr lang="en-US" sz="2968" spc="222">
                <a:solidFill>
                  <a:srgbClr val="000000"/>
                </a:solidFill>
                <a:latin typeface="Cousine"/>
                <a:ea typeface="Cousine"/>
                <a:cs typeface="Cousine"/>
                <a:sym typeface="Cousine"/>
              </a:rPr>
              <a:t>Content</a:t>
            </a:r>
          </a:p>
        </p:txBody>
      </p:sp>
      <p:sp>
        <p:nvSpPr>
          <p:cNvPr name="TextBox 29" id="29"/>
          <p:cNvSpPr txBox="true"/>
          <p:nvPr/>
        </p:nvSpPr>
        <p:spPr>
          <a:xfrm rot="0">
            <a:off x="5155770" y="1585058"/>
            <a:ext cx="1960844" cy="515159"/>
          </a:xfrm>
          <a:prstGeom prst="rect">
            <a:avLst/>
          </a:prstGeom>
        </p:spPr>
        <p:txBody>
          <a:bodyPr anchor="t" rtlCol="false" tIns="0" lIns="0" bIns="0" rIns="0">
            <a:spAutoFit/>
          </a:bodyPr>
          <a:lstStyle/>
          <a:p>
            <a:pPr algn="l" marL="0" indent="0" lvl="0">
              <a:lnSpc>
                <a:spcPts val="4155"/>
              </a:lnSpc>
              <a:spcBef>
                <a:spcPct val="0"/>
              </a:spcBef>
            </a:pPr>
            <a:r>
              <a:rPr lang="en-US" sz="2968" spc="222" strike="noStrike" u="none">
                <a:solidFill>
                  <a:srgbClr val="000000"/>
                </a:solidFill>
                <a:latin typeface="Cousine"/>
                <a:ea typeface="Cousine"/>
                <a:cs typeface="Cousine"/>
                <a:sym typeface="Cousine"/>
              </a:rPr>
              <a:t>Contact</a:t>
            </a:r>
          </a:p>
        </p:txBody>
      </p:sp>
      <p:grpSp>
        <p:nvGrpSpPr>
          <p:cNvPr name="Group 30" id="30"/>
          <p:cNvGrpSpPr/>
          <p:nvPr/>
        </p:nvGrpSpPr>
        <p:grpSpPr>
          <a:xfrm rot="0">
            <a:off x="5155770" y="4529824"/>
            <a:ext cx="3685243" cy="3585553"/>
            <a:chOff x="0" y="0"/>
            <a:chExt cx="4913657" cy="4780738"/>
          </a:xfrm>
        </p:grpSpPr>
        <p:sp>
          <p:nvSpPr>
            <p:cNvPr name="Freeform 31" id="31"/>
            <p:cNvSpPr/>
            <p:nvPr/>
          </p:nvSpPr>
          <p:spPr>
            <a:xfrm flipH="false" flipV="false" rot="0">
              <a:off x="626804" y="0"/>
              <a:ext cx="3660050" cy="3454172"/>
            </a:xfrm>
            <a:custGeom>
              <a:avLst/>
              <a:gdLst/>
              <a:ahLst/>
              <a:cxnLst/>
              <a:rect r="r" b="b" t="t" l="l"/>
              <a:pathLst>
                <a:path h="3454172" w="3660050">
                  <a:moveTo>
                    <a:pt x="0" y="0"/>
                  </a:moveTo>
                  <a:lnTo>
                    <a:pt x="3660049" y="0"/>
                  </a:lnTo>
                  <a:lnTo>
                    <a:pt x="3660049" y="3454172"/>
                  </a:lnTo>
                  <a:lnTo>
                    <a:pt x="0" y="3454172"/>
                  </a:lnTo>
                  <a:lnTo>
                    <a:pt x="0" y="0"/>
                  </a:lnTo>
                  <a:close/>
                </a:path>
              </a:pathLst>
            </a:custGeom>
            <a:blipFill>
              <a:blip r:embed="rId10"/>
              <a:stretch>
                <a:fillRect l="0" t="0" r="0" b="0"/>
              </a:stretch>
            </a:blipFill>
          </p:spPr>
        </p:sp>
        <p:sp>
          <p:nvSpPr>
            <p:cNvPr name="TextBox 32" id="32"/>
            <p:cNvSpPr txBox="true"/>
            <p:nvPr/>
          </p:nvSpPr>
          <p:spPr>
            <a:xfrm rot="0">
              <a:off x="0" y="3606061"/>
              <a:ext cx="4913657" cy="1174677"/>
            </a:xfrm>
            <a:prstGeom prst="rect">
              <a:avLst/>
            </a:prstGeom>
          </p:spPr>
          <p:txBody>
            <a:bodyPr anchor="t" rtlCol="false" tIns="0" lIns="0" bIns="0" rIns="0">
              <a:spAutoFit/>
            </a:bodyPr>
            <a:lstStyle/>
            <a:p>
              <a:pPr algn="ctr">
                <a:lnSpc>
                  <a:spcPts val="3667"/>
                </a:lnSpc>
                <a:spcBef>
                  <a:spcPct val="0"/>
                </a:spcBef>
              </a:pPr>
              <a:r>
                <a:rPr lang="en-US" b="true" sz="2619">
                  <a:solidFill>
                    <a:srgbClr val="000000"/>
                  </a:solidFill>
                  <a:latin typeface="Anonymous Pro Bold"/>
                  <a:ea typeface="Anonymous Pro Bold"/>
                  <a:cs typeface="Anonymous Pro Bold"/>
                  <a:sym typeface="Anonymous Pro Bold"/>
                </a:rPr>
                <a:t>W3Schools Python Tutorials</a:t>
              </a:r>
            </a:p>
          </p:txBody>
        </p:sp>
      </p:grpSp>
      <p:grpSp>
        <p:nvGrpSpPr>
          <p:cNvPr name="Group 33" id="33"/>
          <p:cNvGrpSpPr/>
          <p:nvPr/>
        </p:nvGrpSpPr>
        <p:grpSpPr>
          <a:xfrm rot="0">
            <a:off x="904261" y="3149370"/>
            <a:ext cx="3946710" cy="4283655"/>
            <a:chOff x="0" y="0"/>
            <a:chExt cx="5262280" cy="5711540"/>
          </a:xfrm>
        </p:grpSpPr>
        <p:sp>
          <p:nvSpPr>
            <p:cNvPr name="Freeform 34" id="34"/>
            <p:cNvSpPr/>
            <p:nvPr/>
          </p:nvSpPr>
          <p:spPr>
            <a:xfrm flipH="false" flipV="false" rot="0">
              <a:off x="562109" y="0"/>
              <a:ext cx="4138061" cy="4138061"/>
            </a:xfrm>
            <a:custGeom>
              <a:avLst/>
              <a:gdLst/>
              <a:ahLst/>
              <a:cxnLst/>
              <a:rect r="r" b="b" t="t" l="l"/>
              <a:pathLst>
                <a:path h="4138061" w="4138061">
                  <a:moveTo>
                    <a:pt x="0" y="0"/>
                  </a:moveTo>
                  <a:lnTo>
                    <a:pt x="4138061" y="0"/>
                  </a:lnTo>
                  <a:lnTo>
                    <a:pt x="4138061" y="4138061"/>
                  </a:lnTo>
                  <a:lnTo>
                    <a:pt x="0" y="4138061"/>
                  </a:lnTo>
                  <a:lnTo>
                    <a:pt x="0" y="0"/>
                  </a:lnTo>
                  <a:close/>
                </a:path>
              </a:pathLst>
            </a:custGeom>
            <a:blipFill>
              <a:blip r:embed="rId11"/>
              <a:stretch>
                <a:fillRect l="0" t="0" r="0" b="0"/>
              </a:stretch>
            </a:blipFill>
          </p:spPr>
        </p:sp>
        <p:sp>
          <p:nvSpPr>
            <p:cNvPr name="TextBox 35" id="35"/>
            <p:cNvSpPr txBox="true"/>
            <p:nvPr/>
          </p:nvSpPr>
          <p:spPr>
            <a:xfrm rot="0">
              <a:off x="0" y="4240892"/>
              <a:ext cx="5262280" cy="1470647"/>
            </a:xfrm>
            <a:prstGeom prst="rect">
              <a:avLst/>
            </a:prstGeom>
          </p:spPr>
          <p:txBody>
            <a:bodyPr anchor="t" rtlCol="false" tIns="0" lIns="0" bIns="0" rIns="0">
              <a:spAutoFit/>
            </a:bodyPr>
            <a:lstStyle/>
            <a:p>
              <a:pPr algn="ctr">
                <a:lnSpc>
                  <a:spcPts val="4555"/>
                </a:lnSpc>
                <a:spcBef>
                  <a:spcPct val="0"/>
                </a:spcBef>
              </a:pPr>
              <a:r>
                <a:rPr lang="en-US" b="true" sz="3254">
                  <a:solidFill>
                    <a:srgbClr val="000000"/>
                  </a:solidFill>
                  <a:latin typeface="Anonymous Pro Bold"/>
                  <a:ea typeface="Anonymous Pro Bold"/>
                  <a:cs typeface="Anonymous Pro Bold"/>
                  <a:sym typeface="Anonymous Pro Bold"/>
                </a:rPr>
                <a:t>Python Standard Library</a:t>
              </a:r>
            </a:p>
          </p:txBody>
        </p:sp>
      </p:grpSp>
      <p:grpSp>
        <p:nvGrpSpPr>
          <p:cNvPr name="Group 36" id="36"/>
          <p:cNvGrpSpPr/>
          <p:nvPr/>
        </p:nvGrpSpPr>
        <p:grpSpPr>
          <a:xfrm rot="0">
            <a:off x="9144000" y="6300394"/>
            <a:ext cx="3038345" cy="2510677"/>
            <a:chOff x="0" y="0"/>
            <a:chExt cx="4051127" cy="3347569"/>
          </a:xfrm>
        </p:grpSpPr>
        <p:sp>
          <p:nvSpPr>
            <p:cNvPr name="Freeform 37" id="37"/>
            <p:cNvSpPr/>
            <p:nvPr/>
          </p:nvSpPr>
          <p:spPr>
            <a:xfrm flipH="false" flipV="false" rot="0">
              <a:off x="1082454" y="0"/>
              <a:ext cx="2305604" cy="2305604"/>
            </a:xfrm>
            <a:custGeom>
              <a:avLst/>
              <a:gdLst/>
              <a:ahLst/>
              <a:cxnLst/>
              <a:rect r="r" b="b" t="t" l="l"/>
              <a:pathLst>
                <a:path h="2305604" w="2305604">
                  <a:moveTo>
                    <a:pt x="0" y="0"/>
                  </a:moveTo>
                  <a:lnTo>
                    <a:pt x="2305604" y="0"/>
                  </a:lnTo>
                  <a:lnTo>
                    <a:pt x="2305604" y="2305604"/>
                  </a:lnTo>
                  <a:lnTo>
                    <a:pt x="0" y="2305604"/>
                  </a:lnTo>
                  <a:lnTo>
                    <a:pt x="0" y="0"/>
                  </a:lnTo>
                  <a:close/>
                </a:path>
              </a:pathLst>
            </a:custGeom>
            <a:blipFill>
              <a:blip r:embed="rId12"/>
              <a:stretch>
                <a:fillRect l="0" t="0" r="0" b="0"/>
              </a:stretch>
            </a:blipFill>
          </p:spPr>
        </p:sp>
        <p:sp>
          <p:nvSpPr>
            <p:cNvPr name="TextBox 38" id="38"/>
            <p:cNvSpPr txBox="true"/>
            <p:nvPr/>
          </p:nvSpPr>
          <p:spPr>
            <a:xfrm rot="0">
              <a:off x="0" y="2478450"/>
              <a:ext cx="4051127" cy="869119"/>
            </a:xfrm>
            <a:prstGeom prst="rect">
              <a:avLst/>
            </a:prstGeom>
          </p:spPr>
          <p:txBody>
            <a:bodyPr anchor="t" rtlCol="false" tIns="0" lIns="0" bIns="0" rIns="0">
              <a:spAutoFit/>
            </a:bodyPr>
            <a:lstStyle/>
            <a:p>
              <a:pPr algn="ctr">
                <a:lnSpc>
                  <a:spcPts val="2639"/>
                </a:lnSpc>
                <a:spcBef>
                  <a:spcPct val="0"/>
                </a:spcBef>
              </a:pPr>
              <a:r>
                <a:rPr lang="en-US" b="true" sz="1885">
                  <a:solidFill>
                    <a:srgbClr val="000000"/>
                  </a:solidFill>
                  <a:latin typeface="Anonymous Pro Bold"/>
                  <a:ea typeface="Anonymous Pro Bold"/>
                  <a:cs typeface="Anonymous Pro Bold"/>
                  <a:sym typeface="Anonymous Pro Bold"/>
                </a:rPr>
                <a:t>ChatGPT</a:t>
              </a:r>
              <a:r>
                <a:rPr lang="en-US" sz="1885">
                  <a:solidFill>
                    <a:srgbClr val="000000"/>
                  </a:solidFill>
                  <a:latin typeface="Anonymous Pro"/>
                  <a:ea typeface="Anonymous Pro"/>
                  <a:cs typeface="Anonymous Pro"/>
                  <a:sym typeface="Anonymous Pro"/>
                </a:rPr>
                <a:t>: Changing the time zone to GMT +3</a:t>
              </a:r>
            </a:p>
          </p:txBody>
        </p:sp>
      </p:grpSp>
      <p:grpSp>
        <p:nvGrpSpPr>
          <p:cNvPr name="Group 39" id="39"/>
          <p:cNvGrpSpPr/>
          <p:nvPr/>
        </p:nvGrpSpPr>
        <p:grpSpPr>
          <a:xfrm rot="0">
            <a:off x="12403145" y="4306264"/>
            <a:ext cx="5139796" cy="3300661"/>
            <a:chOff x="0" y="0"/>
            <a:chExt cx="6853062" cy="4400881"/>
          </a:xfrm>
        </p:grpSpPr>
        <p:sp>
          <p:nvSpPr>
            <p:cNvPr name="TextBox 40" id="40"/>
            <p:cNvSpPr txBox="true"/>
            <p:nvPr/>
          </p:nvSpPr>
          <p:spPr>
            <a:xfrm rot="0">
              <a:off x="0" y="3618022"/>
              <a:ext cx="6853062" cy="782859"/>
            </a:xfrm>
            <a:prstGeom prst="rect">
              <a:avLst/>
            </a:prstGeom>
          </p:spPr>
          <p:txBody>
            <a:bodyPr anchor="t" rtlCol="false" tIns="0" lIns="0" bIns="0" rIns="0">
              <a:spAutoFit/>
            </a:bodyPr>
            <a:lstStyle/>
            <a:p>
              <a:pPr algn="ctr">
                <a:lnSpc>
                  <a:spcPts val="4943"/>
                </a:lnSpc>
                <a:spcBef>
                  <a:spcPct val="0"/>
                </a:spcBef>
              </a:pPr>
              <a:r>
                <a:rPr lang="en-US" b="true" sz="3531">
                  <a:solidFill>
                    <a:srgbClr val="000000"/>
                  </a:solidFill>
                  <a:latin typeface="Anonymous Pro Bold"/>
                  <a:ea typeface="Anonymous Pro Bold"/>
                  <a:cs typeface="Anonymous Pro Bold"/>
                  <a:sym typeface="Anonymous Pro Bold"/>
                </a:rPr>
                <a:t>WiT program resources</a:t>
              </a:r>
            </a:p>
          </p:txBody>
        </p:sp>
        <p:sp>
          <p:nvSpPr>
            <p:cNvPr name="Freeform 41" id="41"/>
            <p:cNvSpPr/>
            <p:nvPr/>
          </p:nvSpPr>
          <p:spPr>
            <a:xfrm flipH="false" flipV="false" rot="0">
              <a:off x="1498770" y="0"/>
              <a:ext cx="3855523" cy="3578528"/>
            </a:xfrm>
            <a:custGeom>
              <a:avLst/>
              <a:gdLst/>
              <a:ahLst/>
              <a:cxnLst/>
              <a:rect r="r" b="b" t="t" l="l"/>
              <a:pathLst>
                <a:path h="3578528" w="3855523">
                  <a:moveTo>
                    <a:pt x="0" y="0"/>
                  </a:moveTo>
                  <a:lnTo>
                    <a:pt x="3855522" y="0"/>
                  </a:lnTo>
                  <a:lnTo>
                    <a:pt x="3855522" y="3578528"/>
                  </a:lnTo>
                  <a:lnTo>
                    <a:pt x="0" y="3578528"/>
                  </a:lnTo>
                  <a:lnTo>
                    <a:pt x="0" y="0"/>
                  </a:lnTo>
                  <a:close/>
                </a:path>
              </a:pathLst>
            </a:custGeom>
            <a:blipFill>
              <a:blip r:embed="rId13"/>
              <a:stretch>
                <a:fillRect l="0" t="0" r="0" b="-7740"/>
              </a:stretch>
            </a:blipFill>
          </p:spPr>
        </p:sp>
      </p:grpSp>
      <p:sp>
        <p:nvSpPr>
          <p:cNvPr name="Freeform 42" id="42"/>
          <p:cNvSpPr/>
          <p:nvPr/>
        </p:nvSpPr>
        <p:spPr>
          <a:xfrm flipH="false" flipV="false" rot="0">
            <a:off x="13826684" y="2610509"/>
            <a:ext cx="1543406" cy="1543406"/>
          </a:xfrm>
          <a:custGeom>
            <a:avLst/>
            <a:gdLst/>
            <a:ahLst/>
            <a:cxnLst/>
            <a:rect r="r" b="b" t="t" l="l"/>
            <a:pathLst>
              <a:path h="1543406" w="1543406">
                <a:moveTo>
                  <a:pt x="0" y="0"/>
                </a:moveTo>
                <a:lnTo>
                  <a:pt x="1543406" y="0"/>
                </a:lnTo>
                <a:lnTo>
                  <a:pt x="1543406" y="1543405"/>
                </a:lnTo>
                <a:lnTo>
                  <a:pt x="0" y="154340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DAG50Z9fVK0</dc:identifier>
  <dcterms:modified xsi:type="dcterms:W3CDTF">2011-08-01T06:04:30Z</dcterms:modified>
  <cp:revision>1</cp:revision>
  <dc:title>ProJect</dc:title>
</cp:coreProperties>
</file>